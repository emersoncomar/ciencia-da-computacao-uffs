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314" r:id="rId3"/>
    <p:sldId id="257" r:id="rId4"/>
    <p:sldId id="263" r:id="rId5"/>
    <p:sldId id="283" r:id="rId6"/>
    <p:sldId id="288" r:id="rId7"/>
    <p:sldId id="268" r:id="rId8"/>
    <p:sldId id="274" r:id="rId9"/>
    <p:sldId id="276" r:id="rId10"/>
    <p:sldId id="277" r:id="rId11"/>
    <p:sldId id="278" r:id="rId12"/>
    <p:sldId id="287" r:id="rId13"/>
    <p:sldId id="284" r:id="rId14"/>
    <p:sldId id="286" r:id="rId15"/>
    <p:sldId id="290" r:id="rId16"/>
    <p:sldId id="289" r:id="rId17"/>
    <p:sldId id="291" r:id="rId18"/>
    <p:sldId id="294" r:id="rId19"/>
    <p:sldId id="295" r:id="rId20"/>
    <p:sldId id="296" r:id="rId21"/>
    <p:sldId id="312" r:id="rId22"/>
    <p:sldId id="313" r:id="rId23"/>
    <p:sldId id="292" r:id="rId24"/>
    <p:sldId id="300" r:id="rId25"/>
    <p:sldId id="293" r:id="rId26"/>
    <p:sldId id="301" r:id="rId27"/>
    <p:sldId id="298" r:id="rId28"/>
    <p:sldId id="299" r:id="rId29"/>
    <p:sldId id="307" r:id="rId30"/>
    <p:sldId id="308" r:id="rId31"/>
    <p:sldId id="309" r:id="rId32"/>
    <p:sldId id="305" r:id="rId33"/>
    <p:sldId id="315" r:id="rId34"/>
    <p:sldId id="317" r:id="rId35"/>
    <p:sldId id="318" r:id="rId36"/>
    <p:sldId id="316" r:id="rId37"/>
    <p:sldId id="319" r:id="rId38"/>
    <p:sldId id="320"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5" d="100"/>
          <a:sy n="65" d="100"/>
        </p:scale>
        <p:origin x="153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pt-BR" smtClean="0"/>
              <a:t>Clique para editar o título mestre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en-US" dirty="0"/>
          </a:p>
        </p:txBody>
      </p:sp>
      <p:sp>
        <p:nvSpPr>
          <p:cNvPr id="4" name="Date Placeholder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pt-BR" smtClean="0"/>
              <a:t>Clique para editar o título mestre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pt-BR" smtClean="0"/>
              <a:t>Clique para editar o título mestre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Date Placeholder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pt-BR" smtClean="0"/>
              <a:t>Clique para editar o título mestre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pt-BR" smtClean="0"/>
              <a:t>Clique para editar o título mestre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12" name="Content Placeholder 3"/>
          <p:cNvSpPr>
            <a:spLocks noGrp="1"/>
          </p:cNvSpPr>
          <p:nvPr>
            <p:ph sz="quarter" idx="13"/>
          </p:nvPr>
        </p:nvSpPr>
        <p:spPr>
          <a:xfrm>
            <a:off x="685331" y="3051013"/>
            <a:ext cx="3829520" cy="2740187"/>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13" name="Content Placeholder 5"/>
          <p:cNvSpPr>
            <a:spLocks noGrp="1"/>
          </p:cNvSpPr>
          <p:nvPr>
            <p:ph sz="quarter" idx="14"/>
          </p:nvPr>
        </p:nvSpPr>
        <p:spPr>
          <a:xfrm>
            <a:off x="4629150" y="3051013"/>
            <a:ext cx="3829051" cy="2740187"/>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7" name="Date Placeholder 6"/>
          <p:cNvSpPr>
            <a:spLocks noGrp="1"/>
          </p:cNvSpPr>
          <p:nvPr>
            <p:ph type="dt" sz="half" idx="10"/>
          </p:nvPr>
        </p:nvSpPr>
        <p:spPr/>
        <p:txBody>
          <a:bodyPr/>
          <a:lstStyle/>
          <a:p>
            <a:fld id="{3AC0892F-BBEE-4F66-AF11-CC2ACFAC4232}" type="datetimeFigureOut">
              <a:rPr lang="pt-BR" smtClean="0"/>
              <a:t>14/04/2026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pt-BR" smtClean="0"/>
              <a:t>Clique para editar o título mestre</a:t>
            </a:r>
            <a:endParaRPr lang="en-US" dirty="0"/>
          </a:p>
        </p:txBody>
      </p:sp>
      <p:sp>
        <p:nvSpPr>
          <p:cNvPr id="3" name="Date Placeholder 2"/>
          <p:cNvSpPr>
            <a:spLocks noGrp="1"/>
          </p:cNvSpPr>
          <p:nvPr>
            <p:ph type="dt" sz="half" idx="10"/>
          </p:nvPr>
        </p:nvSpPr>
        <p:spPr/>
        <p:txBody>
          <a:bodyPr/>
          <a:lstStyle/>
          <a:p>
            <a:fld id="{3AC0892F-BBEE-4F66-AF11-CC2ACFAC4232}" type="datetimeFigureOut">
              <a:rPr lang="pt-BR" smtClean="0"/>
              <a:t>14/04/2026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3AC0892F-BBEE-4F66-AF11-CC2ACFAC4232}" type="datetimeFigureOut">
              <a:rPr lang="pt-BR" smtClean="0"/>
              <a:t>14/04/2026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pt-BR" smtClean="0"/>
              <a:t>Clique para editar o título mestre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pt-BR" smtClean="0"/>
              <a:t>Clique para editar o título mestre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smtClean="0"/>
              <a:t>Clique no ícone para adicionar uma imagem</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pt-BR" smtClean="0"/>
              <a:t>Clique para editar o título mestre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pt-BR" smtClean="0"/>
              <a:t>Clique para editar o título mestre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pt-BR" smtClean="0"/>
              <a:t>Clique para editar o título mestre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Date Placeholder 4"/>
          <p:cNvSpPr>
            <a:spLocks noGrp="1"/>
          </p:cNvSpPr>
          <p:nvPr>
            <p:ph type="dt" sz="half" idx="10"/>
          </p:nvPr>
        </p:nvSpPr>
        <p:spPr/>
        <p:txBody>
          <a:bodyPr/>
          <a:lstStyle/>
          <a:p>
            <a:fld id="{3AC0892F-BBEE-4F66-AF11-CC2ACFAC4232}" type="datetimeFigureOut">
              <a:rPr lang="pt-BR" smtClean="0"/>
              <a:t>14/04/2026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pt-BR" smtClean="0"/>
              <a:t>Clique para editar o título mestre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3" name="Date Placeholder 2"/>
          <p:cNvSpPr>
            <a:spLocks noGrp="1"/>
          </p:cNvSpPr>
          <p:nvPr>
            <p:ph type="dt" sz="half" idx="10"/>
          </p:nvPr>
        </p:nvSpPr>
        <p:spPr/>
        <p:txBody>
          <a:bodyPr/>
          <a:lstStyle/>
          <a:p>
            <a:fld id="{3AC0892F-BBEE-4F66-AF11-CC2ACFAC4232}" type="datetimeFigureOut">
              <a:rPr lang="pt-BR" smtClean="0"/>
              <a:t>14/04/2026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pt-BR" smtClean="0"/>
              <a:t>Clique para editar o título mestre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smtClean="0"/>
              <a:t>Clique no ícone para adicionar uma imagem</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Editar estilos de texto Mestre</a:t>
            </a:r>
          </a:p>
        </p:txBody>
      </p:sp>
      <p:sp>
        <p:nvSpPr>
          <p:cNvPr id="3" name="Date Placeholder 2"/>
          <p:cNvSpPr>
            <a:spLocks noGrp="1"/>
          </p:cNvSpPr>
          <p:nvPr>
            <p:ph type="dt" sz="half" idx="10"/>
          </p:nvPr>
        </p:nvSpPr>
        <p:spPr/>
        <p:txBody>
          <a:bodyPr/>
          <a:lstStyle/>
          <a:p>
            <a:fld id="{3AC0892F-BBEE-4F66-AF11-CC2ACFAC4232}" type="datetimeFigureOut">
              <a:rPr lang="pt-BR" smtClean="0"/>
              <a:t>14/04/2026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pt-BR" smtClean="0"/>
              <a:t>Clique para editar o título mestre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pt-BR" smtClean="0"/>
              <a:t>Clique para editar o título mestre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hasCustomPrompt="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3AC0892F-BBEE-4F66-AF11-CC2ACFAC4232}" type="datetimeFigureOut">
              <a:rPr lang="pt-BR" smtClean="0"/>
              <a:t>14/04/2026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79F2233E-6010-41A9-B8D9-1C7C94D9383D}"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pt-BR" smtClean="0"/>
              <a:t>Clique para editar o título mestre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3AC0892F-BBEE-4F66-AF11-CC2ACFAC4232}" type="datetimeFigureOut">
              <a:rPr lang="pt-BR" smtClean="0"/>
              <a:t>14/04/2026</a:t>
            </a:fld>
            <a:endParaRPr lang="pt-BR"/>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pt-BR"/>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79F2233E-6010-41A9-B8D9-1C7C94D9383D}"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
            <a:ext cx="7772400" cy="1268759"/>
          </a:xfrm>
        </p:spPr>
        <p:txBody>
          <a:bodyPr/>
          <a:lstStyle/>
          <a:p>
            <a:r>
              <a:rPr lang="pt-BR" b="1" dirty="0" smtClean="0">
                <a:solidFill>
                  <a:srgbClr val="FF0000"/>
                </a:solidFill>
              </a:rPr>
              <a:t>LITIGÂNCIA CLIMÁTICA</a:t>
            </a:r>
            <a:endParaRPr lang="pt-BR" b="1" dirty="0">
              <a:solidFill>
                <a:srgbClr val="FF0000"/>
              </a:solidFill>
            </a:endParaRP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700808"/>
            <a:ext cx="7788000" cy="424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sz="quarter" idx="13"/>
          </p:nvPr>
        </p:nvSpPr>
        <p:spPr>
          <a:xfrm>
            <a:off x="0" y="0"/>
            <a:ext cx="9144000" cy="6857999"/>
          </a:xfrm>
        </p:spPr>
        <p:txBody>
          <a:bodyPr/>
          <a:lstStyle/>
          <a:p>
            <a:endParaRPr lang="pt-BR" dirty="0" smtClean="0"/>
          </a:p>
          <a:p>
            <a:endParaRPr lang="pt-BR" dirty="0"/>
          </a:p>
          <a:p>
            <a:endParaRPr lang="pt-BR" dirty="0" smtClean="0"/>
          </a:p>
          <a:p>
            <a:endParaRPr lang="pt-BR" dirty="0"/>
          </a:p>
          <a:p>
            <a:endParaRPr lang="pt-BR" dirty="0" smtClean="0"/>
          </a:p>
          <a:p>
            <a:endParaRPr lang="pt-BR" dirty="0" smtClean="0"/>
          </a:p>
          <a:p>
            <a:endParaRPr lang="pt-BR" dirty="0"/>
          </a:p>
          <a:p>
            <a:endParaRPr lang="pt-BR" dirty="0" smtClean="0"/>
          </a:p>
          <a:p>
            <a:endParaRPr lang="pt-BR" dirty="0"/>
          </a:p>
          <a:p>
            <a:endParaRPr lang="pt-BR" dirty="0" smtClean="0"/>
          </a:p>
          <a:p>
            <a:endParaRPr lang="pt-BR" dirty="0"/>
          </a:p>
          <a:p>
            <a:endParaRPr lang="pt-BR" dirty="0" smtClean="0"/>
          </a:p>
          <a:p>
            <a:r>
              <a:rPr lang="pt-BR" sz="1800" dirty="0" smtClean="0">
                <a:latin typeface="Times New Roman" panose="02020603050405020304" pitchFamily="18" charset="0"/>
                <a:cs typeface="Times New Roman" panose="02020603050405020304" pitchFamily="18" charset="0"/>
              </a:rPr>
              <a:t>https</a:t>
            </a:r>
            <a:r>
              <a:rPr lang="pt-BR" sz="1800" dirty="0">
                <a:latin typeface="Times New Roman" panose="02020603050405020304" pitchFamily="18" charset="0"/>
                <a:cs typeface="Times New Roman" panose="02020603050405020304" pitchFamily="18" charset="0"/>
              </a:rPr>
              <a:t>://www.bol.uol.com.br/noticias/2023/07/27/litigios-sobre-o-clima-dobraram-desde-2017-alerta-onu.htm</a:t>
            </a:r>
          </a:p>
        </p:txBody>
      </p:sp>
      <p:pic>
        <p:nvPicPr>
          <p:cNvPr id="2" name="Imagem 1"/>
          <p:cNvPicPr>
            <a:picLocks noChangeAspect="1"/>
          </p:cNvPicPr>
          <p:nvPr/>
        </p:nvPicPr>
        <p:blipFill>
          <a:blip r:embed="rId2"/>
          <a:stretch>
            <a:fillRect/>
          </a:stretch>
        </p:blipFill>
        <p:spPr>
          <a:xfrm>
            <a:off x="266700" y="1052736"/>
            <a:ext cx="8610600" cy="35814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55000" lnSpcReduction="20000"/>
          </a:bodyPr>
          <a:lstStyle/>
          <a:p>
            <a:pPr marL="0" indent="0">
              <a:buNone/>
            </a:pPr>
            <a:endParaRPr lang="pt-BR" sz="2800" dirty="0" smtClean="0"/>
          </a:p>
          <a:p>
            <a:endParaRPr lang="pt-BR" sz="2800" dirty="0" smtClean="0"/>
          </a:p>
          <a:p>
            <a:r>
              <a:rPr lang="pt-BR" sz="4000" cap="none" dirty="0" smtClean="0">
                <a:latin typeface="Times New Roman" panose="02020603050405020304" pitchFamily="18" charset="0"/>
                <a:cs typeface="Times New Roman" panose="02020603050405020304" pitchFamily="18" charset="0"/>
              </a:rPr>
              <a:t>1979 - I Conferência Mundial sobre o Clima em </a:t>
            </a:r>
          </a:p>
          <a:p>
            <a:pPr marL="0" indent="0">
              <a:buNone/>
            </a:pPr>
            <a:r>
              <a:rPr lang="pt-BR" sz="4000" cap="none" dirty="0" smtClean="0">
                <a:latin typeface="Times New Roman" panose="02020603050405020304" pitchFamily="18" charset="0"/>
                <a:cs typeface="Times New Roman" panose="02020603050405020304" pitchFamily="18" charset="0"/>
              </a:rPr>
              <a:t>Genebra (Suíça):  confirmou as evidências das </a:t>
            </a:r>
          </a:p>
          <a:p>
            <a:pPr marL="0" indent="0">
              <a:buNone/>
            </a:pPr>
            <a:r>
              <a:rPr lang="pt-BR" sz="4000" cap="none" dirty="0" smtClean="0">
                <a:latin typeface="Times New Roman" panose="02020603050405020304" pitchFamily="18" charset="0"/>
                <a:cs typeface="Times New Roman" panose="02020603050405020304" pitchFamily="18" charset="0"/>
              </a:rPr>
              <a:t>atividades antrópicas sobre o clima resultante da emissão de dióxido de carbono, metano e óxido nitroso (N2O) (década de 60);</a:t>
            </a:r>
          </a:p>
          <a:p>
            <a:endParaRPr lang="pt-BR" sz="4000" cap="none" dirty="0" smtClean="0">
              <a:latin typeface="Times New Roman" panose="02020603050405020304" pitchFamily="18" charset="0"/>
              <a:cs typeface="Times New Roman" panose="02020603050405020304" pitchFamily="18" charset="0"/>
            </a:endParaRPr>
          </a:p>
          <a:p>
            <a:r>
              <a:rPr lang="pt-BR" sz="4000" cap="none" dirty="0" smtClean="0">
                <a:latin typeface="Times New Roman" panose="02020603050405020304" pitchFamily="18" charset="0"/>
                <a:cs typeface="Times New Roman" panose="02020603050405020304" pitchFamily="18" charset="0"/>
              </a:rPr>
              <a:t>1988 - Painel Intergovernamental sobre Mudanças do Clima (</a:t>
            </a:r>
            <a:r>
              <a:rPr lang="pt-BR" sz="4000" cap="none" dirty="0" err="1" smtClean="0">
                <a:latin typeface="Times New Roman" panose="02020603050405020304" pitchFamily="18" charset="0"/>
                <a:cs typeface="Times New Roman" panose="02020603050405020304" pitchFamily="18" charset="0"/>
              </a:rPr>
              <a:t>Intergovernmental</a:t>
            </a:r>
            <a:r>
              <a:rPr lang="pt-BR" sz="4000" cap="none" dirty="0" smtClean="0">
                <a:latin typeface="Times New Roman" panose="02020603050405020304" pitchFamily="18" charset="0"/>
                <a:cs typeface="Times New Roman" panose="02020603050405020304" pitchFamily="18" charset="0"/>
              </a:rPr>
              <a:t> </a:t>
            </a:r>
            <a:r>
              <a:rPr lang="pt-BR" sz="4000" cap="none" dirty="0" err="1" smtClean="0">
                <a:latin typeface="Times New Roman" panose="02020603050405020304" pitchFamily="18" charset="0"/>
                <a:cs typeface="Times New Roman" panose="02020603050405020304" pitchFamily="18" charset="0"/>
              </a:rPr>
              <a:t>Panel</a:t>
            </a:r>
            <a:r>
              <a:rPr lang="pt-BR" sz="4000" cap="none" dirty="0" smtClean="0">
                <a:latin typeface="Times New Roman" panose="02020603050405020304" pitchFamily="18" charset="0"/>
                <a:cs typeface="Times New Roman" panose="02020603050405020304" pitchFamily="18" charset="0"/>
              </a:rPr>
              <a:t> </a:t>
            </a:r>
            <a:r>
              <a:rPr lang="pt-BR" sz="4000" cap="none" dirty="0" err="1" smtClean="0">
                <a:latin typeface="Times New Roman" panose="02020603050405020304" pitchFamily="18" charset="0"/>
                <a:cs typeface="Times New Roman" panose="02020603050405020304" pitchFamily="18" charset="0"/>
              </a:rPr>
              <a:t>on</a:t>
            </a:r>
            <a:r>
              <a:rPr lang="pt-BR" sz="4000" cap="none" dirty="0" smtClean="0">
                <a:latin typeface="Times New Roman" panose="02020603050405020304" pitchFamily="18" charset="0"/>
                <a:cs typeface="Times New Roman" panose="02020603050405020304" pitchFamily="18" charset="0"/>
              </a:rPr>
              <a:t> </a:t>
            </a:r>
            <a:r>
              <a:rPr lang="pt-BR" sz="4000" cap="none" dirty="0" err="1" smtClean="0">
                <a:latin typeface="Times New Roman" panose="02020603050405020304" pitchFamily="18" charset="0"/>
                <a:cs typeface="Times New Roman" panose="02020603050405020304" pitchFamily="18" charset="0"/>
              </a:rPr>
              <a:t>Climate</a:t>
            </a:r>
            <a:r>
              <a:rPr lang="pt-BR" sz="4000" cap="none" dirty="0" smtClean="0">
                <a:latin typeface="Times New Roman" panose="02020603050405020304" pitchFamily="18" charset="0"/>
                <a:cs typeface="Times New Roman" panose="02020603050405020304" pitchFamily="18" charset="0"/>
              </a:rPr>
              <a:t> </a:t>
            </a:r>
            <a:r>
              <a:rPr lang="pt-BR" sz="4000" cap="none" dirty="0" err="1" smtClean="0">
                <a:latin typeface="Times New Roman" panose="02020603050405020304" pitchFamily="18" charset="0"/>
                <a:cs typeface="Times New Roman" panose="02020603050405020304" pitchFamily="18" charset="0"/>
              </a:rPr>
              <a:t>Change</a:t>
            </a:r>
            <a:r>
              <a:rPr lang="pt-BR" sz="4000" cap="none" dirty="0" smtClean="0">
                <a:latin typeface="Times New Roman" panose="02020603050405020304" pitchFamily="18" charset="0"/>
                <a:cs typeface="Times New Roman" panose="02020603050405020304" pitchFamily="18" charset="0"/>
              </a:rPr>
              <a:t> – IPCC) por iniciativa do Programa das Nações Unidas para o Meio Ambiente (PNUMA) e da Organização Meteorológica Mundial (OMM).</a:t>
            </a:r>
          </a:p>
          <a:p>
            <a:endParaRPr lang="pt-BR" sz="4000" cap="none" dirty="0" smtClean="0">
              <a:latin typeface="Times New Roman" panose="02020603050405020304" pitchFamily="18" charset="0"/>
              <a:cs typeface="Times New Roman" panose="02020603050405020304" pitchFamily="18" charset="0"/>
            </a:endParaRPr>
          </a:p>
          <a:p>
            <a:r>
              <a:rPr lang="pt-BR" sz="4000" cap="none" dirty="0" smtClean="0">
                <a:latin typeface="Times New Roman" panose="02020603050405020304" pitchFamily="18" charset="0"/>
                <a:cs typeface="Times New Roman" panose="02020603050405020304" pitchFamily="18" charset="0"/>
              </a:rPr>
              <a:t>Primeiro informe do IPCC </a:t>
            </a:r>
          </a:p>
          <a:p>
            <a:pPr marL="0" indent="0">
              <a:buNone/>
            </a:pPr>
            <a:r>
              <a:rPr lang="pt-BR" sz="4000" cap="none" dirty="0" smtClean="0">
                <a:latin typeface="Times New Roman" panose="02020603050405020304" pitchFamily="18" charset="0"/>
                <a:cs typeface="Times New Roman" panose="02020603050405020304" pitchFamily="18" charset="0"/>
              </a:rPr>
              <a:t>	-  as atividades antrópicas que emitem gases de efeito estufa (GEE) estavam aumentando;</a:t>
            </a:r>
          </a:p>
          <a:p>
            <a:pPr marL="0" indent="0">
              <a:buNone/>
            </a:pPr>
            <a:r>
              <a:rPr lang="pt-BR" sz="4000" cap="none" dirty="0" smtClean="0">
                <a:latin typeface="Times New Roman" panose="02020603050405020304" pitchFamily="18" charset="0"/>
                <a:cs typeface="Times New Roman" panose="02020603050405020304" pitchFamily="18" charset="0"/>
              </a:rPr>
              <a:t>	-  A temperatura média da terra se elevaria a um ritmo de 0,3 C por década.</a:t>
            </a:r>
          </a:p>
          <a:p>
            <a:endParaRPr lang="pt-BR" sz="4000" cap="none" dirty="0">
              <a:latin typeface="Times New Roman" panose="02020603050405020304" pitchFamily="18" charset="0"/>
              <a:cs typeface="Times New Roman" panose="02020603050405020304" pitchFamily="18" charset="0"/>
            </a:endParaRPr>
          </a:p>
        </p:txBody>
      </p:sp>
      <p:pic>
        <p:nvPicPr>
          <p:cNvPr id="4" name="Imagem 3" descr="Recorte de Tel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66087" y="188640"/>
            <a:ext cx="1676131" cy="148926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Autofit/>
          </a:bodyPr>
          <a:lstStyle/>
          <a:p>
            <a:r>
              <a:rPr lang="pt-BR" sz="2400" dirty="0" smtClean="0"/>
              <a:t>1990 - C</a:t>
            </a:r>
            <a:r>
              <a:rPr lang="pt-BR" sz="2400" cap="none" dirty="0" smtClean="0"/>
              <a:t>onvenção</a:t>
            </a:r>
            <a:r>
              <a:rPr lang="pt-BR" sz="2400" dirty="0" smtClean="0"/>
              <a:t>-Q</a:t>
            </a:r>
            <a:r>
              <a:rPr lang="pt-BR" sz="2400" cap="none" dirty="0" smtClean="0"/>
              <a:t>uadro</a:t>
            </a:r>
            <a:r>
              <a:rPr lang="pt-BR" sz="2400" dirty="0" smtClean="0"/>
              <a:t> </a:t>
            </a:r>
            <a:r>
              <a:rPr lang="pt-BR" sz="2400" cap="none" dirty="0" smtClean="0"/>
              <a:t>das</a:t>
            </a:r>
            <a:r>
              <a:rPr lang="pt-BR" sz="2400" dirty="0" smtClean="0"/>
              <a:t> N</a:t>
            </a:r>
            <a:r>
              <a:rPr lang="pt-BR" sz="2400" cap="none" dirty="0" smtClean="0"/>
              <a:t>ações</a:t>
            </a:r>
            <a:r>
              <a:rPr lang="pt-BR" sz="2400" dirty="0" smtClean="0"/>
              <a:t> U</a:t>
            </a:r>
            <a:r>
              <a:rPr lang="pt-BR" sz="2400" cap="none" dirty="0" smtClean="0"/>
              <a:t>nidas para </a:t>
            </a:r>
            <a:r>
              <a:rPr lang="pt-BR" sz="2400" dirty="0" smtClean="0"/>
              <a:t>M</a:t>
            </a:r>
            <a:r>
              <a:rPr lang="pt-BR" sz="2400" cap="none" dirty="0" smtClean="0"/>
              <a:t>udanças</a:t>
            </a:r>
            <a:r>
              <a:rPr lang="pt-BR" sz="2400" dirty="0" smtClean="0"/>
              <a:t> </a:t>
            </a:r>
            <a:r>
              <a:rPr lang="pt-BR" sz="2400" cap="none" dirty="0" smtClean="0"/>
              <a:t>do</a:t>
            </a:r>
            <a:r>
              <a:rPr lang="pt-BR" sz="2400" dirty="0" smtClean="0"/>
              <a:t> C</a:t>
            </a:r>
            <a:r>
              <a:rPr lang="pt-BR" sz="2400" cap="none" dirty="0" smtClean="0"/>
              <a:t>lima </a:t>
            </a:r>
            <a:r>
              <a:rPr lang="pt-BR" sz="2400" dirty="0" smtClean="0"/>
              <a:t>(U</a:t>
            </a:r>
            <a:r>
              <a:rPr lang="pt-BR" sz="2400" cap="none" dirty="0" smtClean="0"/>
              <a:t>nited</a:t>
            </a:r>
            <a:r>
              <a:rPr lang="pt-BR" sz="2400" dirty="0" smtClean="0"/>
              <a:t> </a:t>
            </a:r>
            <a:r>
              <a:rPr lang="pt-BR" sz="2400" dirty="0" err="1" smtClean="0"/>
              <a:t>N</a:t>
            </a:r>
            <a:r>
              <a:rPr lang="pt-BR" sz="2400" cap="none" dirty="0" err="1" smtClean="0"/>
              <a:t>ations</a:t>
            </a:r>
            <a:r>
              <a:rPr lang="pt-BR" sz="2400" dirty="0" smtClean="0"/>
              <a:t> F</a:t>
            </a:r>
            <a:r>
              <a:rPr lang="pt-BR" sz="2400" cap="none" dirty="0" smtClean="0"/>
              <a:t>ramework</a:t>
            </a:r>
            <a:r>
              <a:rPr lang="pt-BR" sz="2400" dirty="0" smtClean="0"/>
              <a:t> </a:t>
            </a:r>
            <a:r>
              <a:rPr lang="pt-BR" sz="2400" dirty="0" err="1" smtClean="0"/>
              <a:t>C</a:t>
            </a:r>
            <a:r>
              <a:rPr lang="pt-BR" sz="2400" cap="none" dirty="0" err="1" smtClean="0"/>
              <a:t>onvention</a:t>
            </a:r>
            <a:r>
              <a:rPr lang="pt-BR" sz="2400" dirty="0" smtClean="0"/>
              <a:t> </a:t>
            </a:r>
            <a:r>
              <a:rPr lang="pt-BR" sz="2400" cap="none" dirty="0" err="1" smtClean="0"/>
              <a:t>on</a:t>
            </a:r>
            <a:r>
              <a:rPr lang="pt-BR" sz="2400" dirty="0" smtClean="0"/>
              <a:t> </a:t>
            </a:r>
            <a:r>
              <a:rPr lang="pt-BR" sz="2400" dirty="0" err="1" smtClean="0"/>
              <a:t>C</a:t>
            </a:r>
            <a:r>
              <a:rPr lang="pt-BR" sz="2400" cap="none" dirty="0" err="1" smtClean="0"/>
              <a:t>limate</a:t>
            </a:r>
            <a:r>
              <a:rPr lang="pt-BR" sz="2400" dirty="0" smtClean="0"/>
              <a:t> </a:t>
            </a:r>
            <a:r>
              <a:rPr lang="pt-BR" sz="2400" dirty="0" err="1" smtClean="0"/>
              <a:t>C</a:t>
            </a:r>
            <a:r>
              <a:rPr lang="pt-BR" sz="2400" cap="none" dirty="0" err="1" smtClean="0"/>
              <a:t>hange</a:t>
            </a:r>
            <a:r>
              <a:rPr lang="pt-BR" sz="2400" dirty="0" smtClean="0"/>
              <a:t> </a:t>
            </a:r>
            <a:r>
              <a:rPr lang="pt-BR" sz="2400" dirty="0"/>
              <a:t>– </a:t>
            </a:r>
            <a:r>
              <a:rPr lang="pt-BR" sz="2400" dirty="0" smtClean="0"/>
              <a:t>UNFCCC);</a:t>
            </a:r>
            <a:endParaRPr lang="pt-BR" sz="2400" dirty="0"/>
          </a:p>
          <a:p>
            <a:endParaRPr lang="pt-BR" sz="2400" dirty="0" smtClean="0"/>
          </a:p>
          <a:p>
            <a:r>
              <a:rPr lang="pt-BR" sz="2400" cap="none" dirty="0"/>
              <a:t>A</a:t>
            </a:r>
            <a:r>
              <a:rPr lang="pt-BR" sz="2400" cap="none" dirty="0" smtClean="0"/>
              <a:t>berta para adesões durante a </a:t>
            </a:r>
            <a:r>
              <a:rPr lang="pt-BR" sz="2400" dirty="0" smtClean="0"/>
              <a:t>r</a:t>
            </a:r>
            <a:r>
              <a:rPr lang="pt-BR" sz="2400" cap="none" dirty="0" smtClean="0"/>
              <a:t>io</a:t>
            </a:r>
            <a:r>
              <a:rPr lang="pt-BR" sz="2400" dirty="0" smtClean="0"/>
              <a:t> 92;</a:t>
            </a:r>
          </a:p>
          <a:p>
            <a:endParaRPr lang="pt-BR" sz="2400" dirty="0" smtClean="0"/>
          </a:p>
          <a:p>
            <a:r>
              <a:rPr lang="pt-BR" sz="2400" dirty="0" smtClean="0"/>
              <a:t>O</a:t>
            </a:r>
            <a:r>
              <a:rPr lang="pt-BR" sz="2400" cap="none" dirty="0" smtClean="0"/>
              <a:t>bjetivo</a:t>
            </a:r>
            <a:r>
              <a:rPr lang="pt-BR" sz="2400" dirty="0" smtClean="0"/>
              <a:t>: </a:t>
            </a:r>
            <a:r>
              <a:rPr lang="pt-BR" sz="2400" cap="none" dirty="0" smtClean="0"/>
              <a:t>alcançar a estabilização das concentrações de </a:t>
            </a:r>
            <a:r>
              <a:rPr lang="pt-BR" sz="2400" dirty="0" err="1" smtClean="0"/>
              <a:t>GEEs</a:t>
            </a:r>
            <a:r>
              <a:rPr lang="pt-BR" sz="2400" dirty="0" smtClean="0"/>
              <a:t> </a:t>
            </a:r>
            <a:r>
              <a:rPr lang="pt-BR" sz="2400" cap="none" dirty="0" smtClean="0"/>
              <a:t>na atmosfera em um </a:t>
            </a:r>
            <a:r>
              <a:rPr lang="pt-BR" sz="2400" u="sng" cap="none" dirty="0" smtClean="0"/>
              <a:t>nível que impeça uma interferência antrópica perigosa no sistema climático</a:t>
            </a:r>
            <a:r>
              <a:rPr lang="pt-BR" sz="2400" cap="none" dirty="0" smtClean="0"/>
              <a:t>;</a:t>
            </a:r>
          </a:p>
          <a:p>
            <a:endParaRPr lang="pt-BR" sz="2400" dirty="0"/>
          </a:p>
          <a:p>
            <a:r>
              <a:rPr lang="pt-BR" sz="2400" dirty="0" smtClean="0"/>
              <a:t>P</a:t>
            </a:r>
            <a:r>
              <a:rPr lang="pt-BR" sz="2400" cap="none" dirty="0" smtClean="0"/>
              <a:t>rotocolo</a:t>
            </a:r>
            <a:r>
              <a:rPr lang="pt-BR" sz="2400" dirty="0" smtClean="0"/>
              <a:t> </a:t>
            </a:r>
            <a:r>
              <a:rPr lang="pt-BR" sz="2400" cap="none" dirty="0" smtClean="0"/>
              <a:t>de </a:t>
            </a:r>
            <a:r>
              <a:rPr lang="pt-BR" sz="2400" dirty="0" smtClean="0"/>
              <a:t>Q</a:t>
            </a:r>
            <a:r>
              <a:rPr lang="pt-BR" sz="2400" cap="none" dirty="0" smtClean="0"/>
              <a:t>uioto</a:t>
            </a:r>
            <a:r>
              <a:rPr lang="pt-BR" sz="2400" dirty="0" smtClean="0"/>
              <a:t> </a:t>
            </a:r>
            <a:r>
              <a:rPr lang="pt-BR" sz="2400" dirty="0"/>
              <a:t>- </a:t>
            </a:r>
            <a:r>
              <a:rPr lang="pt-BR" sz="2400" cap="none" dirty="0" smtClean="0"/>
              <a:t>negociado em 1997; entrou em vigor em 2005;</a:t>
            </a:r>
            <a:endParaRPr lang="pt-BR" sz="2400" dirty="0"/>
          </a:p>
          <a:p>
            <a:endParaRPr lang="pt-BR" sz="2800" dirty="0" smtClean="0"/>
          </a:p>
          <a:p>
            <a:pPr marL="0" indent="0">
              <a:buNone/>
            </a:pPr>
            <a:endParaRPr lang="pt-BR"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lstStyle/>
          <a:p>
            <a:r>
              <a:rPr lang="pt-BR" sz="2800" dirty="0" smtClean="0">
                <a:latin typeface="Times New Roman" panose="02020603050405020304" pitchFamily="18" charset="0"/>
                <a:cs typeface="Times New Roman" panose="02020603050405020304" pitchFamily="18" charset="0"/>
              </a:rPr>
              <a:t>E</a:t>
            </a:r>
            <a:r>
              <a:rPr lang="pt-BR" sz="2800" cap="none" dirty="0" smtClean="0">
                <a:latin typeface="Times New Roman" panose="02020603050405020304" pitchFamily="18" charset="0"/>
                <a:cs typeface="Times New Roman" panose="02020603050405020304" pitchFamily="18" charset="0"/>
              </a:rPr>
              <a:t>m</a:t>
            </a:r>
            <a:r>
              <a:rPr lang="pt-BR" sz="2800" dirty="0" smtClean="0">
                <a:latin typeface="Times New Roman" panose="02020603050405020304" pitchFamily="18" charset="0"/>
                <a:cs typeface="Times New Roman" panose="02020603050405020304" pitchFamily="18" charset="0"/>
              </a:rPr>
              <a:t> 2009...</a:t>
            </a:r>
          </a:p>
          <a:p>
            <a:endParaRPr lang="pt-BR" sz="2800" dirty="0">
              <a:latin typeface="Times New Roman" panose="02020603050405020304" pitchFamily="18" charset="0"/>
              <a:cs typeface="Times New Roman" panose="02020603050405020304" pitchFamily="18" charset="0"/>
            </a:endParaRPr>
          </a:p>
          <a:p>
            <a:r>
              <a:rPr lang="pt-BR" sz="2800" dirty="0" smtClean="0">
                <a:latin typeface="Times New Roman" panose="02020603050405020304" pitchFamily="18" charset="0"/>
                <a:cs typeface="Times New Roman" panose="02020603050405020304" pitchFamily="18" charset="0"/>
              </a:rPr>
              <a:t>A</a:t>
            </a:r>
            <a:r>
              <a:rPr lang="pt-BR" sz="2800" cap="none" dirty="0" smtClean="0">
                <a:latin typeface="Times New Roman" panose="02020603050405020304" pitchFamily="18" charset="0"/>
                <a:cs typeface="Times New Roman" panose="02020603050405020304" pitchFamily="18" charset="0"/>
              </a:rPr>
              <a:t>través</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da </a:t>
            </a:r>
            <a:r>
              <a:rPr lang="pt-BR" sz="2800" dirty="0" smtClean="0">
                <a:latin typeface="Times New Roman" panose="02020603050405020304" pitchFamily="18" charset="0"/>
                <a:cs typeface="Times New Roman" panose="02020603050405020304" pitchFamily="18" charset="0"/>
              </a:rPr>
              <a:t>P</a:t>
            </a:r>
            <a:r>
              <a:rPr lang="pt-BR" sz="2800" cap="none" dirty="0" smtClean="0">
                <a:latin typeface="Times New Roman" panose="02020603050405020304" pitchFamily="18" charset="0"/>
                <a:cs typeface="Times New Roman" panose="02020603050405020304" pitchFamily="18" charset="0"/>
              </a:rPr>
              <a:t>olítica</a:t>
            </a:r>
            <a:r>
              <a:rPr lang="pt-BR" sz="2800" dirty="0" smtClean="0">
                <a:latin typeface="Times New Roman" panose="02020603050405020304" pitchFamily="18" charset="0"/>
                <a:cs typeface="Times New Roman" panose="02020603050405020304" pitchFamily="18" charset="0"/>
              </a:rPr>
              <a:t> N</a:t>
            </a:r>
            <a:r>
              <a:rPr lang="pt-BR" sz="2800" cap="none" dirty="0" smtClean="0">
                <a:latin typeface="Times New Roman" panose="02020603050405020304" pitchFamily="18" charset="0"/>
                <a:cs typeface="Times New Roman" panose="02020603050405020304" pitchFamily="18" charset="0"/>
              </a:rPr>
              <a:t>acional sobre</a:t>
            </a:r>
            <a:r>
              <a:rPr lang="pt-BR" sz="2800" dirty="0" smtClean="0">
                <a:latin typeface="Times New Roman" panose="02020603050405020304" pitchFamily="18" charset="0"/>
                <a:cs typeface="Times New Roman" panose="02020603050405020304" pitchFamily="18" charset="0"/>
              </a:rPr>
              <a:t> M</a:t>
            </a:r>
            <a:r>
              <a:rPr lang="pt-BR" sz="2800" cap="none" dirty="0" smtClean="0">
                <a:latin typeface="Times New Roman" panose="02020603050405020304" pitchFamily="18" charset="0"/>
                <a:cs typeface="Times New Roman" panose="02020603050405020304" pitchFamily="18" charset="0"/>
              </a:rPr>
              <a:t>udança do</a:t>
            </a:r>
            <a:r>
              <a:rPr lang="pt-BR" sz="2800" dirty="0" smtClean="0">
                <a:latin typeface="Times New Roman" panose="02020603050405020304" pitchFamily="18" charset="0"/>
                <a:cs typeface="Times New Roman" panose="02020603050405020304" pitchFamily="18" charset="0"/>
              </a:rPr>
              <a:t> C</a:t>
            </a:r>
            <a:r>
              <a:rPr lang="pt-BR" sz="2800" cap="none" dirty="0" smtClean="0">
                <a:latin typeface="Times New Roman" panose="02020603050405020304" pitchFamily="18" charset="0"/>
                <a:cs typeface="Times New Roman" panose="02020603050405020304" pitchFamily="18" charset="0"/>
              </a:rPr>
              <a:t>lima </a:t>
            </a:r>
            <a:r>
              <a:rPr lang="pt-BR" sz="2800" dirty="0" smtClean="0">
                <a:latin typeface="Times New Roman" panose="02020603050405020304" pitchFamily="18" charset="0"/>
                <a:cs typeface="Times New Roman" panose="02020603050405020304" pitchFamily="18" charset="0"/>
              </a:rPr>
              <a:t>(PNMC - L</a:t>
            </a:r>
            <a:r>
              <a:rPr lang="pt-BR" sz="2800" cap="none" dirty="0" smtClean="0">
                <a:latin typeface="Times New Roman" panose="02020603050405020304" pitchFamily="18" charset="0"/>
                <a:cs typeface="Times New Roman" panose="02020603050405020304" pitchFamily="18" charset="0"/>
              </a:rPr>
              <a:t>ei n</a:t>
            </a:r>
            <a:r>
              <a:rPr lang="pt-BR" sz="2800" dirty="0" smtClean="0">
                <a:latin typeface="Times New Roman" panose="02020603050405020304" pitchFamily="18" charset="0"/>
                <a:cs typeface="Times New Roman" panose="02020603050405020304" pitchFamily="18" charset="0"/>
              </a:rPr>
              <a:t>. </a:t>
            </a:r>
            <a:r>
              <a:rPr lang="pt-BR" sz="2800" dirty="0">
                <a:latin typeface="Times New Roman" panose="02020603050405020304" pitchFamily="18" charset="0"/>
                <a:cs typeface="Times New Roman" panose="02020603050405020304" pitchFamily="18" charset="0"/>
              </a:rPr>
              <a:t>12.187/2009</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o Brasil oficializa compromisso voluntário junto à </a:t>
            </a:r>
            <a:r>
              <a:rPr lang="pt-BR" sz="2800" dirty="0" smtClean="0">
                <a:latin typeface="Times New Roman" panose="02020603050405020304" pitchFamily="18" charset="0"/>
                <a:cs typeface="Times New Roman" panose="02020603050405020304" pitchFamily="18" charset="0"/>
              </a:rPr>
              <a:t>C</a:t>
            </a:r>
            <a:r>
              <a:rPr lang="pt-BR" sz="2800" cap="none" dirty="0" smtClean="0">
                <a:latin typeface="Times New Roman" panose="02020603050405020304" pitchFamily="18" charset="0"/>
                <a:cs typeface="Times New Roman" panose="02020603050405020304" pitchFamily="18" charset="0"/>
              </a:rPr>
              <a:t>onvenção</a:t>
            </a:r>
            <a:r>
              <a:rPr lang="pt-BR" sz="2800" dirty="0" smtClean="0">
                <a:latin typeface="Times New Roman" panose="02020603050405020304" pitchFamily="18" charset="0"/>
                <a:cs typeface="Times New Roman" panose="02020603050405020304" pitchFamily="18" charset="0"/>
              </a:rPr>
              <a:t>-Q</a:t>
            </a:r>
            <a:r>
              <a:rPr lang="pt-BR" sz="2800" cap="none" dirty="0" smtClean="0">
                <a:latin typeface="Times New Roman" panose="02020603050405020304" pitchFamily="18" charset="0"/>
                <a:cs typeface="Times New Roman" panose="02020603050405020304" pitchFamily="18" charset="0"/>
              </a:rPr>
              <a:t>uadro</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das</a:t>
            </a:r>
            <a:r>
              <a:rPr lang="pt-BR" sz="2800" dirty="0" smtClean="0">
                <a:latin typeface="Times New Roman" panose="02020603050405020304" pitchFamily="18" charset="0"/>
                <a:cs typeface="Times New Roman" panose="02020603050405020304" pitchFamily="18" charset="0"/>
              </a:rPr>
              <a:t> N</a:t>
            </a:r>
            <a:r>
              <a:rPr lang="pt-BR" sz="2800" cap="none" dirty="0" smtClean="0">
                <a:latin typeface="Times New Roman" panose="02020603050405020304" pitchFamily="18" charset="0"/>
                <a:cs typeface="Times New Roman" panose="02020603050405020304" pitchFamily="18" charset="0"/>
              </a:rPr>
              <a:t>ações</a:t>
            </a:r>
            <a:r>
              <a:rPr lang="pt-BR" sz="2800" dirty="0" smtClean="0">
                <a:latin typeface="Times New Roman" panose="02020603050405020304" pitchFamily="18" charset="0"/>
                <a:cs typeface="Times New Roman" panose="02020603050405020304" pitchFamily="18" charset="0"/>
              </a:rPr>
              <a:t> U</a:t>
            </a:r>
            <a:r>
              <a:rPr lang="pt-BR" sz="2800" cap="none" dirty="0" smtClean="0">
                <a:latin typeface="Times New Roman" panose="02020603050405020304" pitchFamily="18" charset="0"/>
                <a:cs typeface="Times New Roman" panose="02020603050405020304" pitchFamily="18" charset="0"/>
              </a:rPr>
              <a:t>nidas</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sobre</a:t>
            </a:r>
            <a:r>
              <a:rPr lang="pt-BR" sz="2800" dirty="0" smtClean="0">
                <a:latin typeface="Times New Roman" panose="02020603050405020304" pitchFamily="18" charset="0"/>
                <a:cs typeface="Times New Roman" panose="02020603050405020304" pitchFamily="18" charset="0"/>
              </a:rPr>
              <a:t> M</a:t>
            </a:r>
            <a:r>
              <a:rPr lang="pt-BR" sz="2800" cap="none" dirty="0" smtClean="0">
                <a:latin typeface="Times New Roman" panose="02020603050405020304" pitchFamily="18" charset="0"/>
                <a:cs typeface="Times New Roman" panose="02020603050405020304" pitchFamily="18" charset="0"/>
              </a:rPr>
              <a:t>udança</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do </a:t>
            </a:r>
            <a:r>
              <a:rPr lang="pt-BR" sz="2800" dirty="0" smtClean="0">
                <a:latin typeface="Times New Roman" panose="02020603050405020304" pitchFamily="18" charset="0"/>
                <a:cs typeface="Times New Roman" panose="02020603050405020304" pitchFamily="18" charset="0"/>
              </a:rPr>
              <a:t>C</a:t>
            </a:r>
            <a:r>
              <a:rPr lang="pt-BR" sz="2800" cap="none" dirty="0" smtClean="0">
                <a:latin typeface="Times New Roman" panose="02020603050405020304" pitchFamily="18" charset="0"/>
                <a:cs typeface="Times New Roman" panose="02020603050405020304" pitchFamily="18" charset="0"/>
              </a:rPr>
              <a:t>lima</a:t>
            </a:r>
            <a:r>
              <a:rPr lang="pt-BR" sz="2800" dirty="0" smtClean="0">
                <a:latin typeface="Times New Roman" panose="02020603050405020304" pitchFamily="18" charset="0"/>
                <a:cs typeface="Times New Roman" panose="02020603050405020304" pitchFamily="18" charset="0"/>
              </a:rPr>
              <a:t> </a:t>
            </a:r>
            <a:r>
              <a:rPr lang="pt-BR" sz="2800" cap="none" dirty="0" smtClean="0">
                <a:latin typeface="Times New Roman" panose="02020603050405020304" pitchFamily="18" charset="0"/>
                <a:cs typeface="Times New Roman" panose="02020603050405020304" pitchFamily="18" charset="0"/>
              </a:rPr>
              <a:t>de</a:t>
            </a:r>
            <a:r>
              <a:rPr lang="pt-BR" sz="2800" dirty="0" smtClean="0">
                <a:latin typeface="Times New Roman" panose="02020603050405020304" pitchFamily="18" charset="0"/>
                <a:cs typeface="Times New Roman" panose="02020603050405020304" pitchFamily="18" charset="0"/>
              </a:rPr>
              <a:t>:</a:t>
            </a:r>
          </a:p>
          <a:p>
            <a:pPr marL="0" indent="0">
              <a:buNone/>
            </a:pPr>
            <a:endParaRPr lang="pt-BR" sz="2800" dirty="0" smtClean="0">
              <a:latin typeface="Times New Roman" panose="02020603050405020304" pitchFamily="18" charset="0"/>
              <a:cs typeface="Times New Roman" panose="02020603050405020304" pitchFamily="18" charset="0"/>
            </a:endParaRPr>
          </a:p>
          <a:p>
            <a:pPr marL="0" indent="0">
              <a:buNone/>
            </a:pPr>
            <a:r>
              <a:rPr lang="pt-BR" sz="2800" dirty="0" smtClean="0">
                <a:latin typeface="Times New Roman" panose="02020603050405020304" pitchFamily="18" charset="0"/>
                <a:cs typeface="Times New Roman" panose="02020603050405020304" pitchFamily="18" charset="0"/>
              </a:rPr>
              <a:t>- R</a:t>
            </a:r>
            <a:r>
              <a:rPr lang="pt-BR" sz="2800" cap="none" dirty="0" smtClean="0">
                <a:latin typeface="Times New Roman" panose="02020603050405020304" pitchFamily="18" charset="0"/>
                <a:cs typeface="Times New Roman" panose="02020603050405020304" pitchFamily="18" charset="0"/>
              </a:rPr>
              <a:t>edução de emissões de gases de efeito estufa entre 36,1% e 38,9% das emissões projetadas até 2020.</a:t>
            </a:r>
            <a:r>
              <a:rPr lang="pt-BR" sz="2800" dirty="0">
                <a:latin typeface="Times New Roman" panose="02020603050405020304" pitchFamily="18" charset="0"/>
                <a:cs typeface="Times New Roman" panose="02020603050405020304" pitchFamily="18" charset="0"/>
              </a:rPr>
              <a:t> </a:t>
            </a:r>
            <a:r>
              <a:rPr lang="pt-BR" sz="3000" dirty="0"/>
              <a:t/>
            </a:r>
            <a:br>
              <a:rPr lang="pt-BR" sz="3000" dirty="0"/>
            </a:br>
            <a:endParaRPr lang="pt-BR" sz="3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r>
              <a:rPr lang="pt-BR" sz="2400" i="1" u="sng" dirty="0" smtClean="0"/>
              <a:t>FNMC – Fundo Nacional de Mudanças Climáticas</a:t>
            </a:r>
          </a:p>
          <a:p>
            <a:pPr>
              <a:buFontTx/>
              <a:buChar char="-"/>
            </a:pPr>
            <a:endParaRPr lang="pt-BR" dirty="0" smtClean="0"/>
          </a:p>
          <a:p>
            <a:pPr>
              <a:buFontTx/>
              <a:buChar char="-"/>
            </a:pPr>
            <a:r>
              <a:rPr lang="pt-BR" sz="2400" cap="none" dirty="0">
                <a:latin typeface="Times New Roman" panose="02020603050405020304" pitchFamily="18" charset="0"/>
                <a:cs typeface="Times New Roman" panose="02020603050405020304" pitchFamily="18" charset="0"/>
              </a:rPr>
              <a:t>C</a:t>
            </a:r>
            <a:r>
              <a:rPr lang="pt-BR" sz="2400" cap="none" dirty="0" smtClean="0">
                <a:latin typeface="Times New Roman" panose="02020603050405020304" pitchFamily="18" charset="0"/>
                <a:cs typeface="Times New Roman" panose="02020603050405020304" pitchFamily="18" charset="0"/>
              </a:rPr>
              <a:t>riado: Lei nº 12.114/09, regulamentado pelo Decreto nº 9.578/18, alterado pelo Decreto nº 10.143/19.</a:t>
            </a:r>
          </a:p>
          <a:p>
            <a:pPr>
              <a:buFontTx/>
              <a:buChar char="-"/>
            </a:pPr>
            <a:endParaRPr lang="pt-BR" sz="2400" cap="none" dirty="0" smtClean="0">
              <a:latin typeface="Times New Roman" panose="02020603050405020304" pitchFamily="18" charset="0"/>
              <a:cs typeface="Times New Roman" panose="02020603050405020304" pitchFamily="18" charset="0"/>
            </a:endParaRPr>
          </a:p>
          <a:p>
            <a:pPr>
              <a:buFontTx/>
              <a:buChar char="-"/>
            </a:pPr>
            <a:r>
              <a:rPr lang="pt-BR" sz="2400" cap="none" dirty="0" smtClean="0">
                <a:latin typeface="Times New Roman" panose="02020603050405020304" pitchFamily="18" charset="0"/>
                <a:cs typeface="Times New Roman" panose="02020603050405020304" pitchFamily="18" charset="0"/>
              </a:rPr>
              <a:t>projetos contemplados: 2014= 5; 2015= 2; 2016= 3; 2017= 2; 2018= 8; 2019= 0; 2020 = 1; 2021 = 1.</a:t>
            </a:r>
          </a:p>
          <a:p>
            <a:pPr marL="0" indent="0">
              <a:buNone/>
            </a:pPr>
            <a:endParaRPr lang="pt-BR" sz="2400" cap="none" dirty="0" smtClean="0">
              <a:latin typeface="Times New Roman" panose="02020603050405020304" pitchFamily="18" charset="0"/>
              <a:cs typeface="Times New Roman" panose="02020603050405020304" pitchFamily="18" charset="0"/>
            </a:endParaRPr>
          </a:p>
          <a:p>
            <a:pPr>
              <a:buFontTx/>
              <a:buChar char="-"/>
            </a:pPr>
            <a:r>
              <a:rPr lang="pt-BR" sz="2400" cap="none" dirty="0" smtClean="0">
                <a:latin typeface="Times New Roman" panose="02020603050405020304" pitchFamily="18" charset="0"/>
                <a:cs typeface="Times New Roman" panose="02020603050405020304" pitchFamily="18" charset="0"/>
              </a:rPr>
              <a:t>reuniões realizadas: 2014= 4; 2015= 2; 2016= 4; 2017= 2; 2018= 3; 2019= 0; 2020 = 3; 2021 = 2; 2022 </a:t>
            </a:r>
            <a:r>
              <a:rPr lang="pt-BR" sz="2400" cap="none" smtClean="0">
                <a:latin typeface="Times New Roman" panose="02020603050405020304" pitchFamily="18" charset="0"/>
                <a:cs typeface="Times New Roman" panose="02020603050405020304" pitchFamily="18" charset="0"/>
              </a:rPr>
              <a:t>= 3.</a:t>
            </a:r>
            <a:endParaRPr lang="pt-BR" sz="2400" cap="none" dirty="0" smtClean="0">
              <a:latin typeface="Times New Roman" panose="02020603050405020304" pitchFamily="18" charset="0"/>
              <a:cs typeface="Times New Roman" panose="02020603050405020304" pitchFamily="18" charset="0"/>
            </a:endParaRPr>
          </a:p>
          <a:p>
            <a:pPr marL="0" indent="0">
              <a:buNone/>
            </a:pPr>
            <a:endParaRPr lang="pt-BR" sz="2400" cap="none" dirty="0" smtClean="0">
              <a:latin typeface="Times New Roman" panose="02020603050405020304" pitchFamily="18" charset="0"/>
              <a:cs typeface="Times New Roman" panose="02020603050405020304" pitchFamily="18" charset="0"/>
            </a:endParaRPr>
          </a:p>
          <a:p>
            <a:pPr>
              <a:buFontTx/>
              <a:buChar char="-"/>
            </a:pPr>
            <a:r>
              <a:rPr lang="pt-BR" sz="2400" cap="none" dirty="0" smtClean="0">
                <a:latin typeface="Times New Roman" panose="02020603050405020304" pitchFamily="18" charset="0"/>
                <a:cs typeface="Times New Roman" panose="02020603050405020304" pitchFamily="18" charset="0"/>
              </a:rPr>
              <a:t>edital para recebimento de propostas de projetos= último em 2018.</a:t>
            </a:r>
          </a:p>
          <a:p>
            <a:pPr>
              <a:buFontTx/>
              <a:buChar char="-"/>
            </a:pPr>
            <a:endParaRPr lang="pt-BR"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lstStyle/>
          <a:p>
            <a:pPr marL="0" indent="0" algn="ctr">
              <a:buNone/>
            </a:pPr>
            <a:endParaRPr lang="pt-BR" dirty="0" smtClean="0">
              <a:solidFill>
                <a:srgbClr val="FF0000"/>
              </a:solidFill>
              <a:effectLst>
                <a:outerShdw blurRad="38100" dist="38100" dir="2700000" algn="tl">
                  <a:srgbClr val="000000">
                    <a:alpha val="43137"/>
                  </a:srgbClr>
                </a:outerShdw>
              </a:effectLst>
            </a:endParaRPr>
          </a:p>
          <a:p>
            <a:pPr marL="0" indent="0" algn="ctr">
              <a:buNone/>
            </a:pPr>
            <a:r>
              <a:rPr lang="pt-BR" b="1" dirty="0" smtClean="0">
                <a:solidFill>
                  <a:srgbClr val="FF0000"/>
                </a:solidFill>
                <a:effectLst>
                  <a:outerShdw blurRad="38100" dist="38100" dir="2700000" algn="tl">
                    <a:srgbClr val="000000">
                      <a:alpha val="43137"/>
                    </a:srgbClr>
                  </a:outerShdw>
                </a:effectLst>
              </a:rPr>
              <a:t>Acordo de Paris</a:t>
            </a:r>
          </a:p>
          <a:p>
            <a:endParaRPr lang="pt-BR" sz="2800" dirty="0" smtClean="0">
              <a:latin typeface="Times New Roman" panose="02020603050405020304" pitchFamily="18" charset="0"/>
              <a:cs typeface="Times New Roman" panose="02020603050405020304" pitchFamily="18" charset="0"/>
            </a:endParaRPr>
          </a:p>
          <a:p>
            <a:r>
              <a:rPr lang="pt-BR" sz="2800" cap="none" dirty="0" smtClean="0">
                <a:latin typeface="Times New Roman" panose="02020603050405020304" pitchFamily="18" charset="0"/>
                <a:cs typeface="Times New Roman" panose="02020603050405020304" pitchFamily="18" charset="0"/>
              </a:rPr>
              <a:t>12/12/2015 = os países adotaram o texto do Acordo de Paris;</a:t>
            </a:r>
          </a:p>
          <a:p>
            <a:r>
              <a:rPr lang="pt-BR" sz="2800" cap="none" dirty="0" smtClean="0">
                <a:latin typeface="Times New Roman" panose="02020603050405020304" pitchFamily="18" charset="0"/>
                <a:cs typeface="Times New Roman" panose="02020603050405020304" pitchFamily="18" charset="0"/>
              </a:rPr>
              <a:t>21/09/2016 = ratificaram o acordo em Nova York</a:t>
            </a:r>
            <a:r>
              <a:rPr lang="pt-BR" sz="2800" dirty="0" smtClean="0">
                <a:latin typeface="Times New Roman" panose="02020603050405020304" pitchFamily="18" charset="0"/>
                <a:cs typeface="Times New Roman" panose="02020603050405020304" pitchFamily="18" charset="0"/>
              </a:rPr>
              <a:t>;</a:t>
            </a:r>
          </a:p>
          <a:p>
            <a:endParaRPr lang="pt-BR" sz="2800" dirty="0" smtClean="0">
              <a:latin typeface="Times New Roman" panose="02020603050405020304" pitchFamily="18" charset="0"/>
              <a:cs typeface="Times New Roman" panose="02020603050405020304" pitchFamily="18" charset="0"/>
            </a:endParaRPr>
          </a:p>
          <a:p>
            <a:endParaRPr lang="pt-BR" sz="2800" dirty="0">
              <a:latin typeface="Times New Roman" panose="02020603050405020304" pitchFamily="18" charset="0"/>
              <a:cs typeface="Times New Roman" panose="02020603050405020304" pitchFamily="18" charset="0"/>
            </a:endParaRPr>
          </a:p>
          <a:p>
            <a:pPr marL="0" indent="0" algn="ctr">
              <a:buNone/>
            </a:pPr>
            <a:r>
              <a:rPr lang="pt-BR" sz="2800" i="1" dirty="0">
                <a:latin typeface="Times New Roman" panose="02020603050405020304" pitchFamily="18" charset="0"/>
                <a:cs typeface="Times New Roman" panose="02020603050405020304" pitchFamily="18" charset="0"/>
              </a:rPr>
              <a:t>Princípio da responsabilidade comum, de todos os países, porém diferenciada</a:t>
            </a:r>
            <a:endParaRPr lang="pt-BR" sz="2800" dirty="0">
              <a:latin typeface="Times New Roman" panose="02020603050405020304" pitchFamily="18" charset="0"/>
              <a:cs typeface="Times New Roman" panose="02020603050405020304" pitchFamily="18" charset="0"/>
            </a:endParaRPr>
          </a:p>
          <a:p>
            <a:pPr marL="0" indent="0">
              <a:buNone/>
            </a:pPr>
            <a:endParaRPr lang="pt-BR" sz="2800" dirty="0" smtClean="0">
              <a:latin typeface="Times New Roman" panose="02020603050405020304" pitchFamily="18" charset="0"/>
              <a:cs typeface="Times New Roman" panose="02020603050405020304" pitchFamily="18" charset="0"/>
            </a:endParaRPr>
          </a:p>
          <a:p>
            <a:endParaRPr lang="pt-BR" sz="2800" dirty="0" smtClean="0">
              <a:latin typeface="Times New Roman" panose="02020603050405020304" pitchFamily="18" charset="0"/>
              <a:cs typeface="Times New Roman" panose="02020603050405020304" pitchFamily="18" charset="0"/>
            </a:endParaRPr>
          </a:p>
          <a:p>
            <a:endParaRPr lang="pt-BR" dirty="0" smtClean="0"/>
          </a:p>
          <a:p>
            <a:endParaRPr lang="pt-BR" dirty="0"/>
          </a:p>
          <a:p>
            <a:pPr marL="0" indent="0">
              <a:buNone/>
            </a:pPr>
            <a:endParaRPr lang="pt-BR" dirty="0" smtClean="0"/>
          </a:p>
          <a:p>
            <a:endParaRPr lang="pt-B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marL="0" indent="0" algn="ctr">
              <a:buNone/>
            </a:pPr>
            <a:r>
              <a:rPr lang="pt-BR" dirty="0" smtClean="0">
                <a:solidFill>
                  <a:srgbClr val="FF0000"/>
                </a:solidFill>
                <a:effectLst>
                  <a:outerShdw blurRad="38100" dist="38100" dir="2700000" algn="tl">
                    <a:srgbClr val="000000">
                      <a:alpha val="43137"/>
                    </a:srgbClr>
                  </a:outerShdw>
                </a:effectLst>
              </a:rPr>
              <a:t>Alguns dos objetivos do Acordo de Paris</a:t>
            </a:r>
          </a:p>
          <a:p>
            <a:pPr fontAlgn="base"/>
            <a:endParaRPr lang="pt-BR" sz="2400" cap="none" dirty="0" smtClean="0">
              <a:latin typeface="Times New Roman" panose="02020603050405020304" pitchFamily="18" charset="0"/>
              <a:cs typeface="Times New Roman" panose="02020603050405020304" pitchFamily="18" charset="0"/>
            </a:endParaRPr>
          </a:p>
          <a:p>
            <a:pPr fontAlgn="base"/>
            <a:r>
              <a:rPr lang="pt-BR" sz="2400" cap="none" dirty="0" smtClean="0">
                <a:latin typeface="Times New Roman" panose="02020603050405020304" pitchFamily="18" charset="0"/>
                <a:cs typeface="Times New Roman" panose="02020603050405020304" pitchFamily="18" charset="0"/>
              </a:rPr>
              <a:t>Busca limitar o aumento da temperatura média global abaixo de 2°C em relação aos níveis pré-industriais e empreender esforços para limitar o aumento da temperatura a 1,5°C;</a:t>
            </a:r>
          </a:p>
          <a:p>
            <a:pPr fontAlgn="base"/>
            <a:endParaRPr lang="pt-BR" sz="2400" cap="none" dirty="0" smtClean="0">
              <a:latin typeface="Times New Roman" panose="02020603050405020304" pitchFamily="18" charset="0"/>
              <a:cs typeface="Times New Roman" panose="02020603050405020304" pitchFamily="18" charset="0"/>
            </a:endParaRPr>
          </a:p>
          <a:p>
            <a:pPr fontAlgn="base"/>
            <a:r>
              <a:rPr lang="pt-BR" sz="2400" cap="none" dirty="0" smtClean="0">
                <a:latin typeface="Times New Roman" panose="02020603050405020304" pitchFamily="18" charset="0"/>
                <a:cs typeface="Times New Roman" panose="02020603050405020304" pitchFamily="18" charset="0"/>
              </a:rPr>
              <a:t>Para isso, estabelece o processo que apresenta as contribuições nacionalmente determinadas (</a:t>
            </a:r>
            <a:r>
              <a:rPr lang="pt-BR" sz="2400" cap="none" dirty="0" err="1" smtClean="0">
                <a:latin typeface="Times New Roman" panose="02020603050405020304" pitchFamily="18" charset="0"/>
                <a:cs typeface="Times New Roman" panose="02020603050405020304" pitchFamily="18" charset="0"/>
              </a:rPr>
              <a:t>NDCs</a:t>
            </a:r>
            <a:r>
              <a:rPr lang="pt-BR" sz="2400" cap="none" dirty="0" smtClean="0">
                <a:latin typeface="Times New Roman" panose="02020603050405020304" pitchFamily="18" charset="0"/>
                <a:cs typeface="Times New Roman" panose="02020603050405020304" pitchFamily="18" charset="0"/>
              </a:rPr>
              <a:t>), com metas individuais de cada país para a redução de emissões de </a:t>
            </a:r>
            <a:r>
              <a:rPr lang="pt-BR" sz="2400" cap="none" dirty="0" err="1" smtClean="0">
                <a:latin typeface="Times New Roman" panose="02020603050405020304" pitchFamily="18" charset="0"/>
                <a:cs typeface="Times New Roman" panose="02020603050405020304" pitchFamily="18" charset="0"/>
              </a:rPr>
              <a:t>GEEs</a:t>
            </a:r>
            <a:r>
              <a:rPr lang="pt-BR" sz="2400" cap="none" dirty="0" smtClean="0"/>
              <a:t>. </a:t>
            </a:r>
          </a:p>
          <a:p>
            <a:pPr marL="0" indent="0">
              <a:buNone/>
            </a:pPr>
            <a:endParaRPr lang="pt-BR" sz="2400" dirty="0" smtClean="0"/>
          </a:p>
          <a:p>
            <a:endParaRPr lang="pt-BR" dirty="0"/>
          </a:p>
        </p:txBody>
      </p:sp>
      <p:pic>
        <p:nvPicPr>
          <p:cNvPr id="4" name="Imagem 3" descr="Recorte de Tela"/>
          <p:cNvPicPr>
            <a:picLocks noChangeAspect="1"/>
          </p:cNvPicPr>
          <p:nvPr/>
        </p:nvPicPr>
        <p:blipFill>
          <a:blip r:embed="rId2">
            <a:extLst>
              <a:ext uri="{BEBA8EAE-BF5A-486C-A8C5-ECC9F3942E4B}">
                <a14:imgProps xmlns:a14="http://schemas.microsoft.com/office/drawing/2010/main">
                  <a14:imgLayer r:embed="rId3">
                    <a14:imgEffect>
                      <a14:backgroundRemoval t="3274" b="97619" l="5413" r="94587"/>
                    </a14:imgEffect>
                  </a14:imgLayer>
                </a14:imgProps>
              </a:ext>
              <a:ext uri="{28A0092B-C50C-407E-A947-70E740481C1C}">
                <a14:useLocalDpi xmlns:a14="http://schemas.microsoft.com/office/drawing/2010/main" val="0"/>
              </a:ext>
            </a:extLst>
          </a:blip>
          <a:stretch>
            <a:fillRect/>
          </a:stretch>
        </p:blipFill>
        <p:spPr>
          <a:xfrm>
            <a:off x="5788392" y="4149079"/>
            <a:ext cx="3355608" cy="273662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92500" lnSpcReduction="20000"/>
          </a:bodyPr>
          <a:lstStyle/>
          <a:p>
            <a:pPr fontAlgn="base"/>
            <a:r>
              <a:rPr lang="pt-BR" sz="2600" cap="none" dirty="0">
                <a:latin typeface="Times New Roman" panose="02020603050405020304" pitchFamily="18" charset="0"/>
                <a:cs typeface="Times New Roman" panose="02020603050405020304" pitchFamily="18" charset="0"/>
              </a:rPr>
              <a:t>N</a:t>
            </a:r>
            <a:r>
              <a:rPr lang="pt-BR" sz="2600" cap="none" dirty="0" smtClean="0">
                <a:latin typeface="Times New Roman" panose="02020603050405020304" pitchFamily="18" charset="0"/>
                <a:cs typeface="Times New Roman" panose="02020603050405020304" pitchFamily="18" charset="0"/>
              </a:rPr>
              <a:t>o caso do Brasil, o objetivo é reduzir 37% até 2025 e 43% até 2030;</a:t>
            </a:r>
          </a:p>
          <a:p>
            <a:pPr fontAlgn="base"/>
            <a:endParaRPr lang="pt-BR" sz="2600" cap="none" dirty="0" smtClean="0">
              <a:latin typeface="Times New Roman" panose="02020603050405020304" pitchFamily="18" charset="0"/>
              <a:cs typeface="Times New Roman" panose="02020603050405020304" pitchFamily="18" charset="0"/>
            </a:endParaRPr>
          </a:p>
          <a:p>
            <a:pPr fontAlgn="base"/>
            <a:r>
              <a:rPr lang="pt-BR" sz="2600" cap="none" dirty="0">
                <a:latin typeface="Times New Roman" panose="02020603050405020304" pitchFamily="18" charset="0"/>
                <a:cs typeface="Times New Roman" panose="02020603050405020304" pitchFamily="18" charset="0"/>
              </a:rPr>
              <a:t>no setor de florestas e uso da terra, </a:t>
            </a:r>
            <a:r>
              <a:rPr lang="pt-BR" sz="2600" b="1" cap="none" dirty="0">
                <a:latin typeface="Times New Roman" panose="02020603050405020304" pitchFamily="18" charset="0"/>
                <a:cs typeface="Times New Roman" panose="02020603050405020304" pitchFamily="18" charset="0"/>
              </a:rPr>
              <a:t>até 2030 deve-se chegar a um desmatamento ilegal zero</a:t>
            </a:r>
            <a:r>
              <a:rPr lang="pt-BR" sz="2600" cap="none" dirty="0">
                <a:latin typeface="Times New Roman" panose="02020603050405020304" pitchFamily="18" charset="0"/>
                <a:cs typeface="Times New Roman" panose="02020603050405020304" pitchFamily="18" charset="0"/>
              </a:rPr>
              <a:t> e à compensação pela supressão legal de vegetação – que é aquela autorizada pelo código florestal</a:t>
            </a:r>
            <a:r>
              <a:rPr lang="pt-BR" sz="2600" cap="none" dirty="0" smtClean="0">
                <a:latin typeface="Times New Roman" panose="02020603050405020304" pitchFamily="18" charset="0"/>
                <a:cs typeface="Times New Roman" panose="02020603050405020304" pitchFamily="18" charset="0"/>
              </a:rPr>
              <a:t>;</a:t>
            </a:r>
          </a:p>
          <a:p>
            <a:pPr fontAlgn="base"/>
            <a:endParaRPr lang="pt-BR" sz="2600" cap="none" dirty="0">
              <a:latin typeface="Times New Roman" panose="02020603050405020304" pitchFamily="18" charset="0"/>
              <a:cs typeface="Times New Roman" panose="02020603050405020304" pitchFamily="18" charset="0"/>
            </a:endParaRPr>
          </a:p>
          <a:p>
            <a:pPr fontAlgn="base"/>
            <a:r>
              <a:rPr lang="pt-BR" sz="2600" cap="none" dirty="0" smtClean="0">
                <a:latin typeface="Times New Roman" panose="02020603050405020304" pitchFamily="18" charset="0"/>
                <a:cs typeface="Times New Roman" panose="02020603050405020304" pitchFamily="18" charset="0"/>
              </a:rPr>
              <a:t>com intuito de aumentar a ambição dessas metas, cria um mecanismo de revisão a cada 5 anos dos esforços globais para frear as mudanças do clima.</a:t>
            </a:r>
          </a:p>
          <a:p>
            <a:endParaRPr lang="pt-BR" sz="2600" cap="none" dirty="0" smtClean="0">
              <a:latin typeface="Times New Roman" panose="02020603050405020304" pitchFamily="18" charset="0"/>
              <a:cs typeface="Times New Roman" panose="02020603050405020304" pitchFamily="18" charset="0"/>
            </a:endParaRPr>
          </a:p>
          <a:p>
            <a:r>
              <a:rPr lang="pt-BR" sz="2600" cap="none" dirty="0" smtClean="0">
                <a:latin typeface="Times New Roman" panose="02020603050405020304" pitchFamily="18" charset="0"/>
                <a:cs typeface="Times New Roman" panose="02020603050405020304" pitchFamily="18" charset="0"/>
              </a:rPr>
              <a:t>o acordo estabelece que um valor mínimo de US$ 100 bilhões anuais devem ser transferidos de países desenvolvidos aos mais pobres até 2025, para custear ações de combate à poluição;</a:t>
            </a:r>
          </a:p>
          <a:p>
            <a:endParaRPr lang="pt-BR" sz="2400" cap="none" dirty="0" smtClean="0">
              <a:latin typeface="Times New Roman" panose="02020603050405020304" pitchFamily="18" charset="0"/>
              <a:cs typeface="Times New Roman" panose="02020603050405020304" pitchFamily="18" charset="0"/>
            </a:endParaRPr>
          </a:p>
          <a:p>
            <a:pPr marL="0" indent="0">
              <a:buNone/>
            </a:pPr>
            <a:r>
              <a:rPr lang="pt-BR" dirty="0"/>
              <a:t> </a:t>
            </a:r>
            <a:endParaRPr lang="pt-BR"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endParaRPr lang="pt-BR" sz="2400" b="1" u="sng" dirty="0" smtClean="0">
              <a:latin typeface="Times New Roman" panose="02020603050405020304" pitchFamily="18" charset="0"/>
              <a:cs typeface="Times New Roman" panose="02020603050405020304" pitchFamily="18" charset="0"/>
            </a:endParaRPr>
          </a:p>
          <a:p>
            <a:r>
              <a:rPr lang="pt-BR" sz="2400" b="1" u="sng" dirty="0" smtClean="0">
                <a:latin typeface="Times New Roman" panose="02020603050405020304" pitchFamily="18" charset="0"/>
                <a:cs typeface="Times New Roman" panose="02020603050405020304" pitchFamily="18" charset="0"/>
              </a:rPr>
              <a:t>Na agricultura</a:t>
            </a:r>
            <a:r>
              <a:rPr lang="pt-BR" sz="2400" dirty="0" smtClean="0">
                <a:latin typeface="Times New Roman" panose="02020603050405020304" pitchFamily="18" charset="0"/>
                <a:cs typeface="Times New Roman" panose="02020603050405020304" pitchFamily="18" charset="0"/>
              </a:rPr>
              <a:t>:</a:t>
            </a:r>
          </a:p>
          <a:p>
            <a:pPr marL="0" indent="0">
              <a:buNone/>
            </a:pPr>
            <a:r>
              <a:rPr lang="pt-BR" sz="2400" dirty="0">
                <a:latin typeface="Times New Roman" panose="02020603050405020304" pitchFamily="18" charset="0"/>
                <a:cs typeface="Times New Roman" panose="02020603050405020304" pitchFamily="18" charset="0"/>
              </a:rPr>
              <a:t>-</a:t>
            </a:r>
            <a:r>
              <a:rPr lang="pt-BR" sz="2400" dirty="0" smtClean="0">
                <a:latin typeface="Times New Roman" panose="02020603050405020304" pitchFamily="18" charset="0"/>
                <a:cs typeface="Times New Roman" panose="02020603050405020304" pitchFamily="18" charset="0"/>
              </a:rPr>
              <a:t> </a:t>
            </a:r>
            <a:r>
              <a:rPr lang="pt-BR" sz="2400" cap="none" dirty="0" smtClean="0">
                <a:latin typeface="Times New Roman" panose="02020603050405020304" pitchFamily="18" charset="0"/>
                <a:cs typeface="Times New Roman" panose="02020603050405020304" pitchFamily="18" charset="0"/>
              </a:rPr>
              <a:t>a meta brasileira é restaurar e reflorestar uma área de 12 milhões de hectares;</a:t>
            </a:r>
          </a:p>
          <a:p>
            <a:pPr>
              <a:buFontTx/>
              <a:buChar char="-"/>
            </a:pPr>
            <a:r>
              <a:rPr lang="pt-BR" sz="2400" cap="none" dirty="0" smtClean="0">
                <a:latin typeface="Times New Roman" panose="02020603050405020304" pitchFamily="18" charset="0"/>
                <a:cs typeface="Times New Roman" panose="02020603050405020304" pitchFamily="18" charset="0"/>
              </a:rPr>
              <a:t>restaurar mais 15 milhões de áreas degradadas;</a:t>
            </a:r>
          </a:p>
          <a:p>
            <a:pPr>
              <a:buFontTx/>
              <a:buChar char="-"/>
            </a:pPr>
            <a:r>
              <a:rPr lang="pt-BR" sz="2400" cap="none" dirty="0" smtClean="0">
                <a:latin typeface="Times New Roman" panose="02020603050405020304" pitchFamily="18" charset="0"/>
                <a:cs typeface="Times New Roman" panose="02020603050405020304" pitchFamily="18" charset="0"/>
              </a:rPr>
              <a:t>aumentar em 5 milhões de hectares o sistema de integração lavoura pecuária e floresta. </a:t>
            </a:r>
          </a:p>
          <a:p>
            <a:endParaRPr lang="pt-BR" sz="2400" b="1" u="sng" dirty="0" smtClean="0">
              <a:latin typeface="Times New Roman" panose="02020603050405020304" pitchFamily="18" charset="0"/>
              <a:cs typeface="Times New Roman" panose="02020603050405020304" pitchFamily="18" charset="0"/>
            </a:endParaRPr>
          </a:p>
          <a:p>
            <a:r>
              <a:rPr lang="pt-BR" sz="2400" b="1" u="sng" dirty="0" smtClean="0">
                <a:latin typeface="Times New Roman" panose="02020603050405020304" pitchFamily="18" charset="0"/>
                <a:cs typeface="Times New Roman" panose="02020603050405020304" pitchFamily="18" charset="0"/>
              </a:rPr>
              <a:t>No </a:t>
            </a:r>
            <a:r>
              <a:rPr lang="pt-BR" sz="2400" b="1" u="sng" dirty="0">
                <a:latin typeface="Times New Roman" panose="02020603050405020304" pitchFamily="18" charset="0"/>
                <a:cs typeface="Times New Roman" panose="02020603050405020304" pitchFamily="18" charset="0"/>
              </a:rPr>
              <a:t>setor </a:t>
            </a:r>
            <a:r>
              <a:rPr lang="pt-BR" sz="2400" b="1" u="sng" dirty="0" smtClean="0">
                <a:latin typeface="Times New Roman" panose="02020603050405020304" pitchFamily="18" charset="0"/>
                <a:cs typeface="Times New Roman" panose="02020603050405020304" pitchFamily="18" charset="0"/>
              </a:rPr>
              <a:t>energético</a:t>
            </a:r>
            <a:r>
              <a:rPr lang="pt-BR" sz="2400" dirty="0" smtClean="0">
                <a:latin typeface="Times New Roman" panose="02020603050405020304" pitchFamily="18" charset="0"/>
                <a:cs typeface="Times New Roman" panose="02020603050405020304" pitchFamily="18" charset="0"/>
              </a:rPr>
              <a:t>:</a:t>
            </a:r>
          </a:p>
          <a:p>
            <a:pPr>
              <a:buFontTx/>
              <a:buChar char="-"/>
            </a:pPr>
            <a:r>
              <a:rPr lang="pt-BR" sz="2400" cap="none" dirty="0" smtClean="0">
                <a:latin typeface="Times New Roman" panose="02020603050405020304" pitchFamily="18" charset="0"/>
                <a:cs typeface="Times New Roman" panose="02020603050405020304" pitchFamily="18" charset="0"/>
              </a:rPr>
              <a:t>aumentar a 18% o uso de biocombustíveis sustentáveis;</a:t>
            </a:r>
          </a:p>
          <a:p>
            <a:pPr>
              <a:buFontTx/>
              <a:buChar char="-"/>
            </a:pPr>
            <a:r>
              <a:rPr lang="pt-BR" sz="2400" cap="none" dirty="0" smtClean="0">
                <a:latin typeface="Times New Roman" panose="02020603050405020304" pitchFamily="18" charset="0"/>
                <a:cs typeface="Times New Roman" panose="02020603050405020304" pitchFamily="18" charset="0"/>
              </a:rPr>
              <a:t>atingir 45% de energias renováveis, sendo que desses 28 a 33% de fonte não hídrica -  aí incluída energia eólica e solar.</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lstStyle/>
          <a:p>
            <a:r>
              <a:rPr lang="pt-BR" sz="2800" cap="none" dirty="0" smtClean="0">
                <a:latin typeface="Times New Roman" panose="02020603050405020304" pitchFamily="18" charset="0"/>
                <a:cs typeface="Times New Roman" panose="02020603050405020304" pitchFamily="18" charset="0"/>
              </a:rPr>
              <a:t>22ª Conferência das Partes (COP 22) da Convenção-Quadro das Nações Unidas sobre Mudança do Clima (UNFCC) - </a:t>
            </a:r>
            <a:r>
              <a:rPr lang="pt-BR" sz="2800" cap="none" dirty="0" err="1" smtClean="0">
                <a:latin typeface="Times New Roman" panose="02020603050405020304" pitchFamily="18" charset="0"/>
                <a:cs typeface="Times New Roman" panose="02020603050405020304" pitchFamily="18" charset="0"/>
              </a:rPr>
              <a:t>Marrakech</a:t>
            </a:r>
            <a:r>
              <a:rPr lang="pt-BR" sz="2800" cap="none" dirty="0" smtClean="0">
                <a:latin typeface="Times New Roman" panose="02020603050405020304" pitchFamily="18" charset="0"/>
                <a:cs typeface="Times New Roman" panose="02020603050405020304" pitchFamily="18" charset="0"/>
              </a:rPr>
              <a:t> (Marrocos), dia 07/11/16;</a:t>
            </a:r>
          </a:p>
          <a:p>
            <a:endParaRPr lang="pt-BR" sz="2800" cap="none" dirty="0" smtClean="0">
              <a:latin typeface="Times New Roman" panose="02020603050405020304" pitchFamily="18" charset="0"/>
              <a:cs typeface="Times New Roman" panose="02020603050405020304" pitchFamily="18" charset="0"/>
            </a:endParaRPr>
          </a:p>
          <a:p>
            <a:r>
              <a:rPr lang="pt-BR" sz="2800" cap="none" dirty="0" smtClean="0">
                <a:latin typeface="Times New Roman" panose="02020603050405020304" pitchFamily="18" charset="0"/>
                <a:cs typeface="Times New Roman" panose="02020603050405020304" pitchFamily="18" charset="0"/>
              </a:rPr>
              <a:t>o objetivo da conferência = detalhar medidas que cada país iria adotar;</a:t>
            </a:r>
          </a:p>
          <a:p>
            <a:endParaRPr lang="pt-BR" sz="2800" cap="none" dirty="0" smtClean="0">
              <a:latin typeface="Times New Roman" panose="02020603050405020304" pitchFamily="18" charset="0"/>
              <a:cs typeface="Times New Roman" panose="02020603050405020304" pitchFamily="18" charset="0"/>
            </a:endParaRPr>
          </a:p>
          <a:p>
            <a:r>
              <a:rPr lang="pt-BR" sz="2800" cap="none" dirty="0" smtClean="0">
                <a:latin typeface="Times New Roman" panose="02020603050405020304" pitchFamily="18" charset="0"/>
                <a:cs typeface="Times New Roman" panose="02020603050405020304" pitchFamily="18" charset="0"/>
              </a:rPr>
              <a:t>mais de 190 países negociaram os primeiros passos da regulamentação do Acordo de Paris (começou a vigorar dia 04/11/16)</a:t>
            </a:r>
          </a:p>
          <a:p>
            <a:endParaRPr lang="pt-BR"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r>
              <a:rPr lang="pt-BR" sz="2800" cap="none" dirty="0" smtClean="0">
                <a:latin typeface="Times New Roman" panose="02020603050405020304" pitchFamily="18" charset="0"/>
                <a:cs typeface="Times New Roman" panose="02020603050405020304" pitchFamily="18" charset="0"/>
              </a:rPr>
              <a:t>Acordo de Paris </a:t>
            </a:r>
          </a:p>
          <a:p>
            <a:endParaRPr lang="pt-BR" sz="2800" cap="none" dirty="0" smtClean="0">
              <a:latin typeface="Times New Roman" panose="02020603050405020304" pitchFamily="18" charset="0"/>
              <a:cs typeface="Times New Roman" panose="02020603050405020304" pitchFamily="18" charset="0"/>
            </a:endParaRPr>
          </a:p>
          <a:p>
            <a:r>
              <a:rPr lang="pt-BR" sz="2800" cap="none" dirty="0" smtClean="0">
                <a:latin typeface="Times New Roman" panose="02020603050405020304" pitchFamily="18" charset="0"/>
                <a:cs typeface="Times New Roman" panose="02020603050405020304" pitchFamily="18" charset="0"/>
              </a:rPr>
              <a:t>art. 12: “as partes devem cooperar na adoção de medidas, conforme o caso, para melhorar a educação, o treinamento, a conscientização pública, a participação pública e o acesso público à informação sobre mudança do clima, reconhecendo a importância dessas medidas no que se refere ao fortalecimento de ações no âmbito deste acordo.”</a:t>
            </a:r>
          </a:p>
          <a:p>
            <a:pPr marL="0" indent="0">
              <a:buNone/>
            </a:pPr>
            <a:endParaRPr lang="pt-BR" sz="2800" cap="none" dirty="0" smtClean="0">
              <a:latin typeface="Times New Roman" panose="02020603050405020304" pitchFamily="18" charset="0"/>
              <a:cs typeface="Times New Roman" panose="02020603050405020304" pitchFamily="18" charset="0"/>
            </a:endParaRPr>
          </a:p>
          <a:p>
            <a:pPr marL="0" indent="0">
              <a:buNone/>
            </a:pPr>
            <a:r>
              <a:rPr lang="pt-BR" sz="2800" cap="none" dirty="0" smtClean="0">
                <a:latin typeface="Times New Roman" panose="02020603050405020304" pitchFamily="18" charset="0"/>
                <a:cs typeface="Times New Roman" panose="02020603050405020304" pitchFamily="18" charset="0"/>
              </a:rPr>
              <a:t>- MMA lançou um portal de educação e conscientização pública sobre mudança do clima= </a:t>
            </a:r>
            <a:r>
              <a:rPr lang="pt-BR" sz="2800" cap="none" dirty="0" err="1" smtClean="0">
                <a:latin typeface="Times New Roman" panose="02020603050405020304" pitchFamily="18" charset="0"/>
                <a:cs typeface="Times New Roman" panose="02020603050405020304" pitchFamily="18" charset="0"/>
              </a:rPr>
              <a:t>educaclima</a:t>
            </a:r>
            <a:r>
              <a:rPr lang="pt-BR" sz="2800" cap="none" dirty="0" smtClean="0">
                <a:latin typeface="Times New Roman" panose="02020603050405020304" pitchFamily="18" charset="0"/>
                <a:cs typeface="Times New Roman" panose="02020603050405020304" pitchFamily="18" charset="0"/>
              </a:rPr>
              <a:t>.</a:t>
            </a:r>
            <a:br>
              <a:rPr lang="pt-BR" sz="2800" cap="none" dirty="0" smtClean="0">
                <a:latin typeface="Times New Roman" panose="02020603050405020304" pitchFamily="18" charset="0"/>
                <a:cs typeface="Times New Roman" panose="02020603050405020304" pitchFamily="18" charset="0"/>
              </a:rPr>
            </a:br>
            <a:r>
              <a:rPr lang="pt-BR" dirty="0"/>
              <a:t/>
            </a:r>
            <a:br>
              <a:rPr lang="pt-BR" dirty="0"/>
            </a:br>
            <a:endParaRPr lang="pt-B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r>
              <a:rPr lang="pt-BR" b="1" dirty="0" smtClean="0"/>
              <a:t>COP 23 </a:t>
            </a:r>
            <a:r>
              <a:rPr lang="pt-BR" dirty="0" smtClean="0"/>
              <a:t>= B</a:t>
            </a:r>
            <a:r>
              <a:rPr lang="pt-BR" cap="none" dirty="0" smtClean="0"/>
              <a:t>onn</a:t>
            </a:r>
            <a:r>
              <a:rPr lang="pt-BR" dirty="0" smtClean="0"/>
              <a:t> (A</a:t>
            </a:r>
            <a:r>
              <a:rPr lang="pt-BR" cap="none" dirty="0" smtClean="0"/>
              <a:t>lemanha </a:t>
            </a:r>
            <a:r>
              <a:rPr lang="pt-BR" dirty="0" smtClean="0"/>
              <a:t>– 6 -17 </a:t>
            </a:r>
            <a:r>
              <a:rPr lang="pt-BR" cap="none" dirty="0" smtClean="0"/>
              <a:t>de novembro de </a:t>
            </a:r>
            <a:r>
              <a:rPr lang="pt-BR" dirty="0" smtClean="0"/>
              <a:t>2017)</a:t>
            </a:r>
          </a:p>
          <a:p>
            <a:pPr>
              <a:buFontTx/>
              <a:buChar char="-"/>
            </a:pPr>
            <a:endParaRPr lang="pt-BR" sz="2400" cap="none" dirty="0" smtClean="0">
              <a:latin typeface="Times New Roman" panose="02020603050405020304" pitchFamily="18" charset="0"/>
              <a:cs typeface="Times New Roman" panose="02020603050405020304" pitchFamily="18" charset="0"/>
            </a:endParaRPr>
          </a:p>
          <a:p>
            <a:pPr>
              <a:buFontTx/>
              <a:buChar char="-"/>
            </a:pPr>
            <a:r>
              <a:rPr lang="pt-BR" sz="2400" cap="none" dirty="0" smtClean="0">
                <a:latin typeface="Times New Roman" panose="02020603050405020304" pitchFamily="18" charset="0"/>
                <a:cs typeface="Times New Roman" panose="02020603050405020304" pitchFamily="18" charset="0"/>
              </a:rPr>
              <a:t>19 países (Brasil, China, Egito, França, Índia, Marrocos e Moçambique) firmaram acordo sobre o desenvolvimento de metas para biocombustíveis e para construir um plano de ação para alcançá-las (uso de matérias – primas não comestíveis);</a:t>
            </a:r>
          </a:p>
          <a:p>
            <a:pPr>
              <a:buFontTx/>
              <a:buChar char="-"/>
            </a:pPr>
            <a:endParaRPr lang="pt-BR" sz="2400" cap="none" dirty="0" smtClean="0">
              <a:latin typeface="Times New Roman" panose="02020603050405020304" pitchFamily="18" charset="0"/>
              <a:cs typeface="Times New Roman" panose="02020603050405020304" pitchFamily="18" charset="0"/>
            </a:endParaRPr>
          </a:p>
          <a:p>
            <a:pPr marL="0" indent="0">
              <a:buNone/>
            </a:pPr>
            <a:r>
              <a:rPr lang="pt-BR" sz="2400" u="sng" cap="none" dirty="0" smtClean="0">
                <a:latin typeface="Times New Roman" panose="02020603050405020304" pitchFamily="18" charset="0"/>
                <a:cs typeface="Times New Roman" panose="02020603050405020304" pitchFamily="18" charset="0"/>
              </a:rPr>
              <a:t>* Brasil na COP 23 </a:t>
            </a:r>
          </a:p>
          <a:p>
            <a:pPr>
              <a:buFontTx/>
              <a:buChar char="-"/>
            </a:pPr>
            <a:endParaRPr lang="pt-BR" sz="2400" cap="none" dirty="0" smtClean="0">
              <a:latin typeface="Times New Roman" panose="02020603050405020304" pitchFamily="18" charset="0"/>
              <a:cs typeface="Times New Roman" panose="02020603050405020304" pitchFamily="18" charset="0"/>
            </a:endParaRPr>
          </a:p>
          <a:p>
            <a:pPr>
              <a:buFontTx/>
              <a:buChar char="-"/>
            </a:pPr>
            <a:r>
              <a:rPr lang="pt-BR" sz="2400" cap="none" dirty="0" smtClean="0">
                <a:latin typeface="Times New Roman" panose="02020603050405020304" pitchFamily="18" charset="0"/>
                <a:cs typeface="Times New Roman" panose="02020603050405020304" pitchFamily="18" charset="0"/>
              </a:rPr>
              <a:t>recebeu dinheiro da Alemanha (235 milhões de reais ) e do Reino Unido (185 milhões de reais) para proteger a Amazônia do desmatamento; </a:t>
            </a:r>
          </a:p>
          <a:p>
            <a:pPr>
              <a:buFontTx/>
              <a:buChar char="-"/>
            </a:pPr>
            <a:endParaRPr lang="pt-BR" sz="2400" cap="none" dirty="0" smtClean="0">
              <a:latin typeface="Times New Roman" panose="02020603050405020304" pitchFamily="18" charset="0"/>
              <a:cs typeface="Times New Roman" panose="02020603050405020304" pitchFamily="18" charset="0"/>
            </a:endParaRPr>
          </a:p>
          <a:p>
            <a:pPr marL="0" indent="0">
              <a:buNone/>
            </a:pPr>
            <a:r>
              <a:rPr lang="pt-BR" sz="2400" cap="none" dirty="0" smtClean="0">
                <a:latin typeface="Times New Roman" panose="02020603050405020304" pitchFamily="18" charset="0"/>
                <a:cs typeface="Times New Roman" panose="02020603050405020304" pitchFamily="18" charset="0"/>
              </a:rPr>
              <a:t>- candidatou-se para sediar a COP 25, em 2019.</a:t>
            </a:r>
          </a:p>
          <a:p>
            <a:pPr>
              <a:buFontTx/>
              <a:buChar char="-"/>
            </a:pPr>
            <a:endParaRPr lang="pt-BR"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r>
              <a:rPr lang="pt-BR" b="1" dirty="0" smtClean="0">
                <a:solidFill>
                  <a:srgbClr val="FF0000"/>
                </a:solidFill>
              </a:rPr>
              <a:t>2019...</a:t>
            </a:r>
          </a:p>
          <a:p>
            <a:endParaRPr lang="pt-BR" dirty="0"/>
          </a:p>
          <a:p>
            <a:r>
              <a:rPr lang="pt-BR" sz="2400" cap="none" dirty="0" smtClean="0">
                <a:latin typeface="Times New Roman" panose="02020603050405020304" pitchFamily="18" charset="0"/>
                <a:cs typeface="Times New Roman" panose="02020603050405020304" pitchFamily="18" charset="0"/>
              </a:rPr>
              <a:t>o P</a:t>
            </a:r>
            <a:r>
              <a:rPr lang="pt-BR" sz="2400" u="sng" cap="none" dirty="0" smtClean="0">
                <a:latin typeface="Times New Roman" panose="02020603050405020304" pitchFamily="18" charset="0"/>
                <a:cs typeface="Times New Roman" panose="02020603050405020304" pitchFamily="18" charset="0"/>
              </a:rPr>
              <a:t>arlamento Europeu</a:t>
            </a:r>
            <a:r>
              <a:rPr lang="pt-BR" sz="2400" cap="none" dirty="0" smtClean="0">
                <a:latin typeface="Times New Roman" panose="02020603050405020304" pitchFamily="18" charset="0"/>
                <a:cs typeface="Times New Roman" panose="02020603050405020304" pitchFamily="18" charset="0"/>
              </a:rPr>
              <a:t> declarou </a:t>
            </a:r>
            <a:r>
              <a:rPr lang="pt-BR" sz="2400" b="1" u="sng" cap="none" dirty="0" smtClean="0">
                <a:latin typeface="Times New Roman" panose="02020603050405020304" pitchFamily="18" charset="0"/>
                <a:cs typeface="Times New Roman" panose="02020603050405020304" pitchFamily="18" charset="0"/>
              </a:rPr>
              <a:t>emergência climática e ambiental</a:t>
            </a:r>
            <a:r>
              <a:rPr lang="pt-BR" sz="2400" cap="none" dirty="0" smtClean="0">
                <a:latin typeface="Times New Roman" panose="02020603050405020304" pitchFamily="18" charset="0"/>
                <a:cs typeface="Times New Roman" panose="02020603050405020304" pitchFamily="18" charset="0"/>
              </a:rPr>
              <a:t> em 28/11/2019, a Resolução 2019/2930, aprovada com 429 votos a favor, 225 contra e 19 abstenções.</a:t>
            </a:r>
          </a:p>
          <a:p>
            <a:pPr marL="0" indent="0" algn="ctr">
              <a:buNone/>
            </a:pPr>
            <a:r>
              <a:rPr lang="pt-BR" sz="2400" cap="none" dirty="0" smtClean="0">
                <a:latin typeface="Times New Roman" panose="02020603050405020304" pitchFamily="18" charset="0"/>
                <a:cs typeface="Times New Roman" panose="02020603050405020304" pitchFamily="18" charset="0"/>
              </a:rPr>
              <a:t>“declara uma emergência climática e ambiental; insta a comissão, os estados-membros e todos os intervenientes a nível mundial a tomarem urgentemente as medidas concretas necessárias para combater e conter esta ameaça, antes que seja demasiado tarde e declara o seu próprio compromisso nesse sentido;</a:t>
            </a:r>
          </a:p>
          <a:p>
            <a:pPr marL="0" indent="0" algn="ctr">
              <a:buNone/>
            </a:pPr>
            <a:r>
              <a:rPr lang="pt-BR" sz="2400" cap="none" dirty="0" smtClean="0">
                <a:latin typeface="Times New Roman" panose="02020603050405020304" pitchFamily="18" charset="0"/>
                <a:cs typeface="Times New Roman" panose="02020603050405020304" pitchFamily="18" charset="0"/>
              </a:rPr>
              <a:t>exorta a nova comissão a avaliar exaustivamente o impacto climático e ambiental de todas as propostas legislativas e orçamentais relevantes e a assegurar que todas elas estejam plenamente alinhadas com o objetivo de limitar o aquecimento global a menos de 1,5°c e não contribuam para a perda de biodiversidade”</a:t>
            </a:r>
          </a:p>
          <a:p>
            <a:endParaRPr lang="pt-B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b="1" u="sng" dirty="0" smtClean="0"/>
              <a:t>COP 25 (M</a:t>
            </a:r>
            <a:r>
              <a:rPr lang="pt-BR" b="1" u="sng" cap="none" dirty="0" smtClean="0"/>
              <a:t>adri</a:t>
            </a:r>
            <a:r>
              <a:rPr lang="pt-BR" b="1" u="sng" dirty="0" smtClean="0"/>
              <a:t>)</a:t>
            </a:r>
            <a:r>
              <a:rPr lang="pt-BR" dirty="0" smtClean="0"/>
              <a:t>;</a:t>
            </a:r>
          </a:p>
          <a:p>
            <a:pPr fontAlgn="t"/>
            <a:endParaRPr lang="pt-BR" dirty="0"/>
          </a:p>
          <a:p>
            <a:pPr fontAlgn="t"/>
            <a:r>
              <a:rPr lang="pt-BR" sz="2400" dirty="0" smtClean="0">
                <a:latin typeface="Times New Roman" panose="02020603050405020304" pitchFamily="18" charset="0"/>
                <a:cs typeface="Times New Roman" panose="02020603050405020304" pitchFamily="18" charset="0"/>
              </a:rPr>
              <a:t>UE</a:t>
            </a:r>
            <a:r>
              <a:rPr lang="pt-BR" sz="2200" dirty="0" smtClean="0">
                <a:latin typeface="Times New Roman" panose="02020603050405020304" pitchFamily="18" charset="0"/>
                <a:cs typeface="Times New Roman" panose="02020603050405020304" pitchFamily="18" charset="0"/>
              </a:rPr>
              <a:t> </a:t>
            </a:r>
            <a:r>
              <a:rPr lang="pt-BR" sz="2400" cap="none" dirty="0" smtClean="0">
                <a:latin typeface="Times New Roman" panose="02020603050405020304" pitchFamily="18" charset="0"/>
                <a:cs typeface="Times New Roman" panose="02020603050405020304" pitchFamily="18" charset="0"/>
              </a:rPr>
              <a:t>deve reduzir emissões em 55% até 2030 para atingir neutralidade climática até 2050;</a:t>
            </a:r>
          </a:p>
          <a:p>
            <a:pPr fontAlgn="t"/>
            <a:endParaRPr lang="pt-BR" sz="2400" cap="none" dirty="0" smtClean="0">
              <a:latin typeface="Times New Roman" panose="02020603050405020304" pitchFamily="18" charset="0"/>
              <a:cs typeface="Times New Roman" panose="02020603050405020304" pitchFamily="18" charset="0"/>
            </a:endParaRPr>
          </a:p>
          <a:p>
            <a:pPr fontAlgn="t"/>
            <a:r>
              <a:rPr lang="pt-BR" sz="2400" cap="none" dirty="0" smtClean="0">
                <a:latin typeface="Times New Roman" panose="02020603050405020304" pitchFamily="18" charset="0"/>
                <a:cs typeface="Times New Roman" panose="02020603050405020304" pitchFamily="18" charset="0"/>
              </a:rPr>
              <a:t>apelo à redução global das emissões nos setores marítimo e da aviação;</a:t>
            </a:r>
          </a:p>
          <a:p>
            <a:pPr fontAlgn="t"/>
            <a:endParaRPr lang="pt-BR" sz="2400" cap="none" dirty="0" smtClean="0">
              <a:latin typeface="Times New Roman" panose="02020603050405020304" pitchFamily="18" charset="0"/>
              <a:cs typeface="Times New Roman" panose="02020603050405020304" pitchFamily="18" charset="0"/>
            </a:endParaRPr>
          </a:p>
          <a:p>
            <a:pPr fontAlgn="t"/>
            <a:r>
              <a:rPr lang="pt-BR" sz="2400" cap="none" dirty="0" smtClean="0">
                <a:latin typeface="Times New Roman" panose="02020603050405020304" pitchFamily="18" charset="0"/>
                <a:cs typeface="Times New Roman" panose="02020603050405020304" pitchFamily="18" charset="0"/>
              </a:rPr>
              <a:t>fundo para uma transição justa para apoiar as pessoas e regiões mais afetadas.</a:t>
            </a:r>
          </a:p>
          <a:p>
            <a:endParaRPr lang="pt-BR" dirty="0"/>
          </a:p>
        </p:txBody>
      </p:sp>
      <p:pic>
        <p:nvPicPr>
          <p:cNvPr id="4" name="Imagem 3" descr="Recorte de Te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9956" y="5181366"/>
            <a:ext cx="3544044" cy="167663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85000" lnSpcReduction="10000"/>
          </a:bodyPr>
          <a:lstStyle/>
          <a:p>
            <a:pPr fontAlgn="t"/>
            <a:r>
              <a:rPr lang="pt-BR" sz="3100" cap="none" dirty="0" smtClean="0">
                <a:latin typeface="Times New Roman" panose="02020603050405020304" pitchFamily="18" charset="0"/>
                <a:cs typeface="Times New Roman" panose="02020603050405020304" pitchFamily="18" charset="0"/>
              </a:rPr>
              <a:t>Brasil...</a:t>
            </a:r>
          </a:p>
          <a:p>
            <a:pPr fontAlgn="t"/>
            <a:r>
              <a:rPr lang="pt-BR" sz="3100" b="1" u="sng" cap="none" dirty="0" smtClean="0">
                <a:solidFill>
                  <a:srgbClr val="FF0000"/>
                </a:solidFill>
                <a:latin typeface="Times New Roman" panose="02020603050405020304" pitchFamily="18" charset="0"/>
                <a:cs typeface="Times New Roman" panose="02020603050405020304" pitchFamily="18" charset="0"/>
              </a:rPr>
              <a:t>PL 3.961/2020</a:t>
            </a:r>
            <a:r>
              <a:rPr lang="pt-BR" sz="3100" cap="none" dirty="0" smtClean="0">
                <a:latin typeface="Times New Roman" panose="02020603050405020304" pitchFamily="18" charset="0"/>
                <a:cs typeface="Times New Roman" panose="02020603050405020304" pitchFamily="18" charset="0"/>
              </a:rPr>
              <a:t>= declarar o estado de emergência climática em todo o território nacional e estabelecer meta de neutralização das emissões de gases de efeito estufa até 2050;</a:t>
            </a:r>
          </a:p>
          <a:p>
            <a:pPr fontAlgn="t"/>
            <a:r>
              <a:rPr lang="pt-BR" sz="3100" cap="none" dirty="0" smtClean="0">
                <a:latin typeface="Times New Roman" panose="02020603050405020304" pitchFamily="18" charset="0"/>
                <a:cs typeface="Times New Roman" panose="02020603050405020304" pitchFamily="18" charset="0"/>
              </a:rPr>
              <a:t>03/09/25= </a:t>
            </a:r>
            <a:r>
              <a:rPr lang="pt-BR" b="1" dirty="0">
                <a:latin typeface="Times New Roman" panose="02020603050405020304" pitchFamily="18" charset="0"/>
                <a:cs typeface="Times New Roman" panose="02020603050405020304" pitchFamily="18" charset="0"/>
              </a:rPr>
              <a:t>Comissão de Meio Ambiente e Desenvolvimento Sustentável ( CMADS </a:t>
            </a:r>
            <a:r>
              <a:rPr lang="pt-BR" b="1" dirty="0" smtClean="0">
                <a:latin typeface="Times New Roman" panose="02020603050405020304" pitchFamily="18" charset="0"/>
                <a:cs typeface="Times New Roman" panose="02020603050405020304" pitchFamily="18" charset="0"/>
              </a:rPr>
              <a:t>). </a:t>
            </a:r>
            <a:r>
              <a:rPr lang="pt-BR" dirty="0" smtClean="0">
                <a:latin typeface="Times New Roman" panose="02020603050405020304" pitchFamily="18" charset="0"/>
                <a:cs typeface="Times New Roman" panose="02020603050405020304" pitchFamily="18" charset="0"/>
              </a:rPr>
              <a:t>Devolvida </a:t>
            </a:r>
            <a:r>
              <a:rPr lang="pt-BR" dirty="0">
                <a:latin typeface="Times New Roman" panose="02020603050405020304" pitchFamily="18" charset="0"/>
                <a:cs typeface="Times New Roman" panose="02020603050405020304" pitchFamily="18" charset="0"/>
              </a:rPr>
              <a:t>pelo Relator sem Manifestação. A Dep. Socorro Neri apresentou renúncia de relatoria. </a:t>
            </a:r>
            <a:r>
              <a:rPr lang="pt-BR" sz="1900" b="1" dirty="0" smtClean="0">
                <a:latin typeface="Times New Roman" panose="02020603050405020304" pitchFamily="18" charset="0"/>
                <a:cs typeface="Times New Roman" panose="02020603050405020304" pitchFamily="18" charset="0"/>
              </a:rPr>
              <a:t> </a:t>
            </a:r>
          </a:p>
          <a:p>
            <a:pPr fontAlgn="t"/>
            <a:endParaRPr lang="pt-BR" sz="3100" b="1" u="sng" cap="none" dirty="0" smtClean="0">
              <a:solidFill>
                <a:srgbClr val="FF0000"/>
              </a:solidFill>
              <a:latin typeface="Times New Roman" panose="02020603050405020304" pitchFamily="18" charset="0"/>
              <a:cs typeface="Times New Roman" panose="02020603050405020304" pitchFamily="18" charset="0"/>
            </a:endParaRPr>
          </a:p>
          <a:p>
            <a:pPr fontAlgn="t"/>
            <a:r>
              <a:rPr lang="pt-BR" sz="3100" b="1" u="sng" cap="none" dirty="0" smtClean="0">
                <a:solidFill>
                  <a:srgbClr val="FF0000"/>
                </a:solidFill>
                <a:latin typeface="Times New Roman" panose="02020603050405020304" pitchFamily="18" charset="0"/>
                <a:cs typeface="Times New Roman" panose="02020603050405020304" pitchFamily="18" charset="0"/>
              </a:rPr>
              <a:t>PEC 233/2019</a:t>
            </a:r>
            <a:r>
              <a:rPr lang="pt-BR" sz="3100" cap="none" dirty="0" smtClean="0">
                <a:latin typeface="Times New Roman" panose="02020603050405020304" pitchFamily="18" charset="0"/>
                <a:cs typeface="Times New Roman" panose="02020603050405020304" pitchFamily="18" charset="0"/>
              </a:rPr>
              <a:t>= inclui entre os princípios da ordem econômica a manutenção da estabilidade climática (+ inciso x ao art. 170) e determina que o poder público deverá adotar ações de mitigação da mudança do clima e adaptação aos seus efeitos adversos (+ inciso VIII ao § 1º do art. 225);</a:t>
            </a:r>
          </a:p>
          <a:p>
            <a:r>
              <a:rPr lang="pt-BR" sz="3100" cap="none" dirty="0" smtClean="0">
                <a:latin typeface="Times New Roman" panose="02020603050405020304" pitchFamily="18" charset="0"/>
                <a:cs typeface="Times New Roman" panose="02020603050405020304" pitchFamily="18" charset="0"/>
              </a:rPr>
              <a:t>05/06/23= recebido pedido para realização de audiência pública. </a:t>
            </a:r>
          </a:p>
          <a:p>
            <a:endParaRPr lang="pt-BR" sz="2800" dirty="0" smtClean="0"/>
          </a:p>
          <a:p>
            <a:endParaRPr lang="pt-BR" dirty="0"/>
          </a:p>
          <a:p>
            <a:pPr fontAlgn="t"/>
            <a:endParaRPr lang="pt-BR" dirty="0" smtClean="0"/>
          </a:p>
          <a:p>
            <a:pPr fontAlgn="t"/>
            <a:endParaRPr lang="pt-BR" dirty="0"/>
          </a:p>
          <a:p>
            <a:endParaRPr lang="pt-B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25000" lnSpcReduction="20000"/>
          </a:bodyPr>
          <a:lstStyle/>
          <a:p>
            <a:pPr fontAlgn="t"/>
            <a:r>
              <a:rPr lang="pt-BR" sz="8000" b="1" u="sng" dirty="0" smtClean="0">
                <a:latin typeface="Times New Roman" panose="02020603050405020304" pitchFamily="18" charset="0"/>
                <a:cs typeface="Times New Roman" panose="02020603050405020304" pitchFamily="18" charset="0"/>
              </a:rPr>
              <a:t>Litigância Climática</a:t>
            </a:r>
          </a:p>
          <a:p>
            <a:pPr fontAlgn="t"/>
            <a:r>
              <a:rPr lang="pt-BR" sz="8800" dirty="0" smtClean="0">
                <a:latin typeface="Times New Roman" panose="02020603050405020304" pitchFamily="18" charset="0"/>
                <a:cs typeface="Times New Roman" panose="02020603050405020304" pitchFamily="18" charset="0"/>
              </a:rPr>
              <a:t>STF </a:t>
            </a:r>
            <a:r>
              <a:rPr lang="pt-BR" sz="8800" cap="none" dirty="0" smtClean="0">
                <a:latin typeface="Times New Roman" panose="02020603050405020304" pitchFamily="18" charset="0"/>
                <a:cs typeface="Times New Roman" panose="02020603050405020304" pitchFamily="18" charset="0"/>
              </a:rPr>
              <a:t>recebeu 45% das 87 ações judiciais responsáveis por questionar políticas ambientais entre 2019 e 2020 (fonte: fundação </a:t>
            </a:r>
            <a:r>
              <a:rPr lang="pt-BR" sz="8800" cap="none" dirty="0" err="1" smtClean="0">
                <a:latin typeface="Times New Roman" panose="02020603050405020304" pitchFamily="18" charset="0"/>
                <a:cs typeface="Times New Roman" panose="02020603050405020304" pitchFamily="18" charset="0"/>
              </a:rPr>
              <a:t>ford</a:t>
            </a:r>
            <a:r>
              <a:rPr lang="pt-BR" sz="8800" cap="none" dirty="0" smtClean="0">
                <a:latin typeface="Times New Roman" panose="02020603050405020304" pitchFamily="18" charset="0"/>
                <a:cs typeface="Times New Roman" panose="02020603050405020304" pitchFamily="18" charset="0"/>
              </a:rPr>
              <a:t> e instituto clima e sociedade);</a:t>
            </a:r>
          </a:p>
          <a:p>
            <a:pPr fontAlgn="t"/>
            <a:endParaRPr lang="pt-BR" sz="8800" cap="none" dirty="0" smtClean="0">
              <a:latin typeface="Times New Roman" panose="02020603050405020304" pitchFamily="18" charset="0"/>
              <a:cs typeface="Times New Roman" panose="02020603050405020304" pitchFamily="18" charset="0"/>
            </a:endParaRPr>
          </a:p>
          <a:p>
            <a:pPr fontAlgn="t"/>
            <a:r>
              <a:rPr lang="pt-BR" sz="8800" cap="none" dirty="0" smtClean="0">
                <a:latin typeface="Times New Roman" panose="02020603050405020304" pitchFamily="18" charset="0"/>
                <a:cs typeface="Times New Roman" panose="02020603050405020304" pitchFamily="18" charset="0"/>
              </a:rPr>
              <a:t>o STF recebeu duas ações de inconstitucionalidade por omissão = ADO 59 e ADO 60, esta última, convertida na ADPF 708 = alega descumprimento do art. 225 da CF e do princípio do federalismo cooperativo;</a:t>
            </a:r>
          </a:p>
          <a:p>
            <a:pPr fontAlgn="t"/>
            <a:endParaRPr lang="pt-BR" sz="8800" cap="none" dirty="0" smtClean="0">
              <a:latin typeface="Times New Roman" panose="02020603050405020304" pitchFamily="18" charset="0"/>
              <a:cs typeface="Times New Roman" panose="02020603050405020304" pitchFamily="18" charset="0"/>
            </a:endParaRPr>
          </a:p>
          <a:p>
            <a:pPr fontAlgn="t"/>
            <a:r>
              <a:rPr lang="pt-BR" sz="8800" cap="none" dirty="0" smtClean="0">
                <a:latin typeface="Times New Roman" panose="02020603050405020304" pitchFamily="18" charset="0"/>
                <a:cs typeface="Times New Roman" panose="02020603050405020304" pitchFamily="18" charset="0"/>
              </a:rPr>
              <a:t>ajuizadas por PT, PSOL, PDT e REDE em face da união;</a:t>
            </a:r>
          </a:p>
          <a:p>
            <a:pPr marL="0" indent="0" fontAlgn="t">
              <a:buNone/>
            </a:pPr>
            <a:endParaRPr lang="pt-BR" sz="8800" cap="none" dirty="0" smtClean="0">
              <a:latin typeface="Times New Roman" panose="02020603050405020304" pitchFamily="18" charset="0"/>
              <a:cs typeface="Times New Roman" panose="02020603050405020304" pitchFamily="18" charset="0"/>
            </a:endParaRPr>
          </a:p>
          <a:p>
            <a:pPr fontAlgn="t"/>
            <a:r>
              <a:rPr lang="pt-BR" sz="8800" cap="none" dirty="0" smtClean="0">
                <a:latin typeface="Times New Roman" panose="02020603050405020304" pitchFamily="18" charset="0"/>
                <a:cs typeface="Times New Roman" panose="02020603050405020304" pitchFamily="18" charset="0"/>
              </a:rPr>
              <a:t>objetivo: </a:t>
            </a:r>
          </a:p>
          <a:p>
            <a:pPr fontAlgn="t">
              <a:buFontTx/>
              <a:buChar char="-"/>
            </a:pPr>
            <a:r>
              <a:rPr lang="pt-BR" sz="8800" cap="none" dirty="0" smtClean="0">
                <a:latin typeface="Times New Roman" panose="02020603050405020304" pitchFamily="18" charset="0"/>
                <a:cs typeface="Times New Roman" panose="02020603050405020304" pitchFamily="18" charset="0"/>
              </a:rPr>
              <a:t>obtenção de uma declaração de omissão inconstitucional por parte do poder público;</a:t>
            </a:r>
          </a:p>
          <a:p>
            <a:pPr fontAlgn="t">
              <a:buFontTx/>
              <a:buChar char="-"/>
            </a:pPr>
            <a:r>
              <a:rPr lang="pt-BR" sz="8800" cap="none" dirty="0" smtClean="0">
                <a:latin typeface="Times New Roman" panose="02020603050405020304" pitchFamily="18" charset="0"/>
                <a:cs typeface="Times New Roman" panose="02020603050405020304" pitchFamily="18" charset="0"/>
              </a:rPr>
              <a:t>obrigações de fazer: a retomada das operações e a reativação da governança institucional do fundo Amazônia e do fundo nacional sobre mudança do clima.</a:t>
            </a:r>
          </a:p>
          <a:p>
            <a:pPr fontAlgn="t">
              <a:buFontTx/>
              <a:buChar char="-"/>
            </a:pPr>
            <a:endParaRPr lang="pt-B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800" dirty="0">
                <a:latin typeface="Times New Roman" panose="02020603050405020304" pitchFamily="18" charset="0"/>
                <a:cs typeface="Times New Roman" panose="02020603050405020304" pitchFamily="18" charset="0"/>
              </a:rPr>
              <a:t>ADPF </a:t>
            </a:r>
            <a:r>
              <a:rPr lang="pt-BR" sz="2800" dirty="0" smtClean="0">
                <a:latin typeface="Times New Roman" panose="02020603050405020304" pitchFamily="18" charset="0"/>
                <a:cs typeface="Times New Roman" panose="02020603050405020304" pitchFamily="18" charset="0"/>
              </a:rPr>
              <a:t>708 = M</a:t>
            </a:r>
            <a:r>
              <a:rPr lang="pt-BR" sz="2800" cap="none" dirty="0" smtClean="0">
                <a:latin typeface="Times New Roman" panose="02020603050405020304" pitchFamily="18" charset="0"/>
                <a:cs typeface="Times New Roman" panose="02020603050405020304" pitchFamily="18" charset="0"/>
              </a:rPr>
              <a:t>in. Luís Roberto Barroso convocou audiências públicas (2 dias)</a:t>
            </a:r>
          </a:p>
          <a:p>
            <a:pPr fontAlgn="t"/>
            <a:r>
              <a:rPr lang="pt-BR" sz="2800" cap="none" dirty="0" smtClean="0">
                <a:latin typeface="Times New Roman" panose="02020603050405020304" pitchFamily="18" charset="0"/>
                <a:cs typeface="Times New Roman" panose="02020603050405020304" pitchFamily="18" charset="0"/>
              </a:rPr>
              <a:t>1ª vez que o STF tratou do tema das mudanças climáticas; </a:t>
            </a:r>
          </a:p>
          <a:p>
            <a:pPr fontAlgn="t"/>
            <a:r>
              <a:rPr lang="pt-BR" sz="2800" cap="none" dirty="0" smtClean="0">
                <a:latin typeface="Times New Roman" panose="02020603050405020304" pitchFamily="18" charset="0"/>
                <a:cs typeface="Times New Roman" panose="02020603050405020304" pitchFamily="18" charset="0"/>
              </a:rPr>
              <a:t>foram ouvidos 66 especialistas: cientistas, ambientalistas, indígenas, empresários, economistas do meio ambiente, pesquisadores, parlamentares e representantes do governo federal e de governos estaduais;</a:t>
            </a:r>
          </a:p>
          <a:p>
            <a:pPr marL="0" indent="0" fontAlgn="t">
              <a:buNone/>
            </a:pPr>
            <a:endParaRPr lang="pt-BR" dirty="0"/>
          </a:p>
        </p:txBody>
      </p:sp>
      <p:pic>
        <p:nvPicPr>
          <p:cNvPr id="2" name="Imagem 1"/>
          <p:cNvPicPr>
            <a:picLocks noChangeAspect="1"/>
          </p:cNvPicPr>
          <p:nvPr/>
        </p:nvPicPr>
        <p:blipFill>
          <a:blip r:embed="rId2"/>
          <a:stretch>
            <a:fillRect/>
          </a:stretch>
        </p:blipFill>
        <p:spPr>
          <a:xfrm>
            <a:off x="4572000" y="4077072"/>
            <a:ext cx="4968671" cy="3188484"/>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400" cap="none" dirty="0" smtClean="0">
                <a:latin typeface="Times New Roman" panose="02020603050405020304" pitchFamily="18" charset="0"/>
                <a:cs typeface="Times New Roman" panose="02020603050405020304" pitchFamily="18" charset="0"/>
              </a:rPr>
              <a:t>Alguns pontos identificados na audiência:</a:t>
            </a:r>
          </a:p>
          <a:p>
            <a:pPr fontAlgn="base"/>
            <a:r>
              <a:rPr lang="pt-BR" sz="2400" cap="none" dirty="0" smtClean="0">
                <a:latin typeface="Times New Roman" panose="02020603050405020304" pitchFamily="18" charset="0"/>
                <a:cs typeface="Times New Roman" panose="02020603050405020304" pitchFamily="18" charset="0"/>
              </a:rPr>
              <a:t>o Brasil está entre os 7 maiores emissores de </a:t>
            </a:r>
            <a:r>
              <a:rPr lang="pt-BR" sz="2400" cap="none" dirty="0" err="1" smtClean="0">
                <a:latin typeface="Times New Roman" panose="02020603050405020304" pitchFamily="18" charset="0"/>
                <a:cs typeface="Times New Roman" panose="02020603050405020304" pitchFamily="18" charset="0"/>
              </a:rPr>
              <a:t>GEEs</a:t>
            </a:r>
            <a:r>
              <a:rPr lang="pt-BR" sz="2400" cap="none" dirty="0" smtClean="0">
                <a:latin typeface="Times New Roman" panose="02020603050405020304" pitchFamily="18" charset="0"/>
                <a:cs typeface="Times New Roman" panose="02020603050405020304" pitchFamily="18" charset="0"/>
              </a:rPr>
              <a:t> que são responsáveis pelo aquecimento global. Porém, diferentemente de outros países em que as emissões estão associadas ao progresso, industrialização e consumo, no nosso caso decorrem de atividades criminosas que incluem desmatamento, extração ilegal de madeira, mineração ilegal e grilagem de terras;</a:t>
            </a:r>
          </a:p>
          <a:p>
            <a:pPr marL="0" indent="0" fontAlgn="base">
              <a:buNone/>
            </a:pPr>
            <a:endParaRPr lang="pt-BR" sz="2400" cap="none" dirty="0" smtClean="0">
              <a:latin typeface="Times New Roman" panose="02020603050405020304" pitchFamily="18" charset="0"/>
              <a:cs typeface="Times New Roman" panose="02020603050405020304" pitchFamily="18" charset="0"/>
            </a:endParaRPr>
          </a:p>
          <a:p>
            <a:pPr marL="0" indent="0" fontAlgn="base">
              <a:buNone/>
            </a:pPr>
            <a:r>
              <a:rPr lang="pt-BR" sz="2400" cap="none" dirty="0" smtClean="0">
                <a:latin typeface="Times New Roman" panose="02020603050405020304" pitchFamily="18" charset="0"/>
                <a:cs typeface="Times New Roman" panose="02020603050405020304" pitchFamily="18" charset="0"/>
              </a:rPr>
              <a:t>* o desmatamento e as queimadas cresceram expressivamente nos anos de 2019 e 2020 no Brasil;</a:t>
            </a:r>
          </a:p>
          <a:p>
            <a:pPr marL="0" indent="0" fontAlgn="base">
              <a:buNone/>
            </a:pPr>
            <a:r>
              <a:rPr lang="pt-BR" sz="2400" cap="none" dirty="0" smtClean="0">
                <a:latin typeface="Times New Roman" panose="02020603050405020304" pitchFamily="18" charset="0"/>
                <a:cs typeface="Times New Roman" panose="02020603050405020304" pitchFamily="18" charset="0"/>
              </a:rPr>
              <a:t>* houve redução significativa das autuações e dos embargos pelo Ibama;</a:t>
            </a:r>
          </a:p>
          <a:p>
            <a:pPr marL="0" indent="0" fontAlgn="base">
              <a:buNone/>
            </a:pPr>
            <a:r>
              <a:rPr lang="pt-BR" sz="2400" cap="none" dirty="0" smtClean="0">
                <a:latin typeface="Times New Roman" panose="02020603050405020304" pitchFamily="18" charset="0"/>
                <a:cs typeface="Times New Roman" panose="02020603050405020304" pitchFamily="18" charset="0"/>
              </a:rPr>
              <a:t>* até a propositura da ação, o governo não havia aprovado o plano de aplicação dos recursos do fundo clima, nem alocado os recursos.</a:t>
            </a:r>
          </a:p>
          <a:p>
            <a:pPr marL="0" indent="0" fontAlgn="t">
              <a:buNone/>
            </a:pPr>
            <a:endParaRPr lang="pt-BR"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200" cap="none" dirty="0" smtClean="0">
                <a:latin typeface="Times New Roman" panose="02020603050405020304" pitchFamily="18" charset="0"/>
                <a:cs typeface="Times New Roman" panose="02020603050405020304" pitchFamily="18" charset="0"/>
              </a:rPr>
              <a:t>Alguns pontos identificados na audiência:</a:t>
            </a:r>
          </a:p>
          <a:p>
            <a:pPr marL="0" indent="0" fontAlgn="base">
              <a:buNone/>
            </a:pPr>
            <a:r>
              <a:rPr lang="pt-BR" sz="2200" cap="none" dirty="0" smtClean="0">
                <a:latin typeface="Times New Roman" panose="02020603050405020304" pitchFamily="18" charset="0"/>
                <a:cs typeface="Times New Roman" panose="02020603050405020304" pitchFamily="18" charset="0"/>
              </a:rPr>
              <a:t>* setores financeiros e consumidores do </a:t>
            </a:r>
          </a:p>
          <a:p>
            <a:pPr marL="0" indent="0" fontAlgn="base">
              <a:buNone/>
            </a:pPr>
            <a:r>
              <a:rPr lang="pt-BR" sz="2200" cap="none" dirty="0" smtClean="0">
                <a:latin typeface="Times New Roman" panose="02020603050405020304" pitchFamily="18" charset="0"/>
                <a:cs typeface="Times New Roman" panose="02020603050405020304" pitchFamily="18" charset="0"/>
              </a:rPr>
              <a:t>mundo ameaçam boicotar os produtos brasileiros;</a:t>
            </a:r>
          </a:p>
          <a:p>
            <a:pPr fontAlgn="base"/>
            <a:r>
              <a:rPr lang="pt-BR" sz="2200" cap="none" dirty="0" smtClean="0">
                <a:latin typeface="Times New Roman" panose="02020603050405020304" pitchFamily="18" charset="0"/>
                <a:cs typeface="Times New Roman" panose="02020603050405020304" pitchFamily="18" charset="0"/>
              </a:rPr>
              <a:t>apesar de já termos, de modo equivocado, </a:t>
            </a:r>
          </a:p>
          <a:p>
            <a:pPr marL="0" indent="0" fontAlgn="base">
              <a:buNone/>
            </a:pPr>
            <a:r>
              <a:rPr lang="pt-BR" sz="2200" cap="none" dirty="0" smtClean="0">
                <a:latin typeface="Times New Roman" panose="02020603050405020304" pitchFamily="18" charset="0"/>
                <a:cs typeface="Times New Roman" panose="02020603050405020304" pitchFamily="18" charset="0"/>
              </a:rPr>
              <a:t>desmatado 20% da Amazônia nos últimos 50 anos, o PIB da região está estagnado em 8% do PIB brasileiro. destrói-se o ativo que a floresta representa ao Brasil sem correspondente desenvolvimento humano das 25 milhões de pessoas que habitam a Amazônia e sem crescimento econômico da região;</a:t>
            </a:r>
          </a:p>
          <a:p>
            <a:pPr marL="0" indent="0" fontAlgn="base">
              <a:buNone/>
            </a:pPr>
            <a:r>
              <a:rPr lang="pt-BR" sz="2200" cap="none" dirty="0" smtClean="0">
                <a:latin typeface="Times New Roman" panose="02020603050405020304" pitchFamily="18" charset="0"/>
                <a:cs typeface="Times New Roman" panose="02020603050405020304" pitchFamily="18" charset="0"/>
              </a:rPr>
              <a:t>* não há uma incompatibilidade entre um agronegócio bem gerido e a floresta;</a:t>
            </a:r>
          </a:p>
          <a:p>
            <a:pPr marL="0" indent="0" fontAlgn="base">
              <a:buNone/>
            </a:pPr>
            <a:r>
              <a:rPr lang="pt-BR" sz="2200" cap="none" dirty="0" smtClean="0">
                <a:latin typeface="Times New Roman" panose="02020603050405020304" pitchFamily="18" charset="0"/>
                <a:cs typeface="Times New Roman" panose="02020603050405020304" pitchFamily="18" charset="0"/>
              </a:rPr>
              <a:t>*o fundo clima tem papel importante na consecução das metas internacionais, como as metas de redução de emissões.</a:t>
            </a:r>
          </a:p>
          <a:p>
            <a:pPr fontAlgn="base"/>
            <a:r>
              <a:rPr lang="pt-BR" sz="1800" cap="none" dirty="0">
                <a:latin typeface="Times New Roman" panose="02020603050405020304" pitchFamily="18" charset="0"/>
                <a:cs typeface="Times New Roman" panose="02020603050405020304" pitchFamily="18" charset="0"/>
              </a:rPr>
              <a:t>https://</a:t>
            </a:r>
            <a:r>
              <a:rPr lang="pt-BR" sz="1800" cap="none" dirty="0" smtClean="0">
                <a:latin typeface="Times New Roman" panose="02020603050405020304" pitchFamily="18" charset="0"/>
                <a:cs typeface="Times New Roman" panose="02020603050405020304" pitchFamily="18" charset="0"/>
              </a:rPr>
              <a:t>www.migalhas.com.br/quentes/368674/para-barroso-houve-omissao-do-governo-no-fundo-clima</a:t>
            </a:r>
          </a:p>
          <a:p>
            <a:pPr fontAlgn="base"/>
            <a:r>
              <a:rPr lang="pt-BR" sz="1800" cap="none" dirty="0">
                <a:latin typeface="Times New Roman" panose="02020603050405020304" pitchFamily="18" charset="0"/>
                <a:cs typeface="Times New Roman" panose="02020603050405020304" pitchFamily="18" charset="0"/>
              </a:rPr>
              <a:t>https://</a:t>
            </a:r>
            <a:r>
              <a:rPr lang="pt-BR" sz="1800" cap="none" dirty="0" smtClean="0">
                <a:latin typeface="Times New Roman" panose="02020603050405020304" pitchFamily="18" charset="0"/>
                <a:cs typeface="Times New Roman" panose="02020603050405020304" pitchFamily="18" charset="0"/>
              </a:rPr>
              <a:t>www.conjur.com.br/2022-jul-15/direitos-fundamentais-equiparacao-tratados-ambientais-aos-direitos-humanos?imprimir=1</a:t>
            </a:r>
          </a:p>
          <a:p>
            <a:pPr fontAlgn="base"/>
            <a:endParaRPr lang="pt-BR" cap="none" dirty="0" smtClean="0">
              <a:latin typeface="Times New Roman" panose="02020603050405020304" pitchFamily="18" charset="0"/>
              <a:cs typeface="Times New Roman" panose="02020603050405020304" pitchFamily="18" charset="0"/>
            </a:endParaRPr>
          </a:p>
          <a:p>
            <a:pPr fontAlgn="base"/>
            <a:endParaRPr lang="pt-BR" cap="none" dirty="0">
              <a:latin typeface="Times New Roman" panose="02020603050405020304" pitchFamily="18" charset="0"/>
              <a:cs typeface="Times New Roman" panose="02020603050405020304" pitchFamily="18" charset="0"/>
            </a:endParaRPr>
          </a:p>
          <a:p>
            <a:pPr fontAlgn="base"/>
            <a:endParaRPr lang="pt-BR" sz="2200" cap="none" dirty="0" smtClean="0">
              <a:latin typeface="Times New Roman" panose="02020603050405020304" pitchFamily="18" charset="0"/>
              <a:cs typeface="Times New Roman" panose="02020603050405020304" pitchFamily="18" charset="0"/>
            </a:endParaRPr>
          </a:p>
          <a:p>
            <a:pPr fontAlgn="base"/>
            <a:endParaRPr lang="pt-BR" sz="2200" cap="none" dirty="0" smtClean="0">
              <a:latin typeface="Times New Roman" panose="02020603050405020304" pitchFamily="18" charset="0"/>
              <a:cs typeface="Times New Roman" panose="02020603050405020304" pitchFamily="18" charset="0"/>
            </a:endParaRPr>
          </a:p>
          <a:p>
            <a:pPr marL="0" indent="0" fontAlgn="t">
              <a:buNone/>
            </a:pPr>
            <a:endParaRPr lang="pt-BR" dirty="0"/>
          </a:p>
        </p:txBody>
      </p:sp>
      <p:pic>
        <p:nvPicPr>
          <p:cNvPr id="4" name="Imagem 3" descr="Recorte de Te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0012" y="332656"/>
            <a:ext cx="3223988" cy="1606397"/>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400" cap="none" dirty="0" smtClean="0">
                <a:latin typeface="Times New Roman" panose="02020603050405020304" pitchFamily="18" charset="0"/>
                <a:cs typeface="Times New Roman" panose="02020603050405020304" pitchFamily="18" charset="0"/>
              </a:rPr>
              <a:t>Alguns pontos identificados na audiência:</a:t>
            </a:r>
          </a:p>
          <a:p>
            <a:pPr fontAlgn="base"/>
            <a:r>
              <a:rPr lang="pt-BR" sz="2400" cap="none" dirty="0" smtClean="0">
                <a:latin typeface="Times New Roman" panose="02020603050405020304" pitchFamily="18" charset="0"/>
                <a:cs typeface="Times New Roman" panose="02020603050405020304" pitchFamily="18" charset="0"/>
              </a:rPr>
              <a:t>o Brasil está entre os 7 maiores emissores de </a:t>
            </a:r>
            <a:r>
              <a:rPr lang="pt-BR" sz="2400" cap="none" dirty="0" err="1" smtClean="0">
                <a:latin typeface="Times New Roman" panose="02020603050405020304" pitchFamily="18" charset="0"/>
                <a:cs typeface="Times New Roman" panose="02020603050405020304" pitchFamily="18" charset="0"/>
              </a:rPr>
              <a:t>GEEs</a:t>
            </a:r>
            <a:r>
              <a:rPr lang="pt-BR" sz="2400" cap="none" dirty="0" smtClean="0">
                <a:latin typeface="Times New Roman" panose="02020603050405020304" pitchFamily="18" charset="0"/>
                <a:cs typeface="Times New Roman" panose="02020603050405020304" pitchFamily="18" charset="0"/>
              </a:rPr>
              <a:t> que são responsáveis pelo aquecimento global. Porém, diferentemente de outros países em que as emissões estão associadas ao progresso, industrialização e consumo, no nosso caso decorrem de atividades criminosas que incluem desmatamento, extração ilegal de madeira, mineração ilegal e grilagem de terras;</a:t>
            </a:r>
          </a:p>
          <a:p>
            <a:pPr marL="0" indent="0" fontAlgn="base">
              <a:buNone/>
            </a:pPr>
            <a:endParaRPr lang="pt-BR" sz="2400" cap="none" dirty="0" smtClean="0">
              <a:latin typeface="Times New Roman" panose="02020603050405020304" pitchFamily="18" charset="0"/>
              <a:cs typeface="Times New Roman" panose="02020603050405020304" pitchFamily="18" charset="0"/>
            </a:endParaRPr>
          </a:p>
          <a:p>
            <a:pPr marL="0" indent="0" fontAlgn="base">
              <a:buNone/>
            </a:pPr>
            <a:r>
              <a:rPr lang="pt-BR" sz="2400" cap="none" dirty="0" smtClean="0">
                <a:latin typeface="Times New Roman" panose="02020603050405020304" pitchFamily="18" charset="0"/>
                <a:cs typeface="Times New Roman" panose="02020603050405020304" pitchFamily="18" charset="0"/>
              </a:rPr>
              <a:t>* o desmatamento e as queimadas cresceram expressivamente nos anos de 2019 e 2020 no Brasil;</a:t>
            </a:r>
          </a:p>
          <a:p>
            <a:pPr marL="0" indent="0" fontAlgn="base">
              <a:buNone/>
            </a:pPr>
            <a:r>
              <a:rPr lang="pt-BR" sz="2400" cap="none" dirty="0" smtClean="0">
                <a:latin typeface="Times New Roman" panose="02020603050405020304" pitchFamily="18" charset="0"/>
                <a:cs typeface="Times New Roman" panose="02020603050405020304" pitchFamily="18" charset="0"/>
              </a:rPr>
              <a:t>* houve redução significativa das autuações e dos embargos pelo Ibama;</a:t>
            </a:r>
          </a:p>
          <a:p>
            <a:pPr marL="0" indent="0" fontAlgn="base">
              <a:buNone/>
            </a:pPr>
            <a:r>
              <a:rPr lang="pt-BR" sz="2400" cap="none" dirty="0" smtClean="0">
                <a:latin typeface="Times New Roman" panose="02020603050405020304" pitchFamily="18" charset="0"/>
                <a:cs typeface="Times New Roman" panose="02020603050405020304" pitchFamily="18" charset="0"/>
              </a:rPr>
              <a:t>* até a propositura da ação, o governo não havia aprovado o plano de aplicação dos recursos do fundo clima, nem alocado os recursos.</a:t>
            </a:r>
          </a:p>
          <a:p>
            <a:pPr marL="0" indent="0" fontAlgn="t">
              <a:buNone/>
            </a:pPr>
            <a:endParaRPr lang="pt-BR"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400" cap="none" dirty="0" smtClean="0">
                <a:latin typeface="Times New Roman" panose="02020603050405020304" pitchFamily="18" charset="0"/>
                <a:cs typeface="Times New Roman" panose="02020603050405020304" pitchFamily="18" charset="0"/>
              </a:rPr>
              <a:t>Decisão: O Tribunal, por maioria, julgou procedente a ação para: (i) reconhecer a omissão da união, em razão da não alocação integral dos recursos do fundo clima referentes a 2019; (</a:t>
            </a:r>
            <a:r>
              <a:rPr lang="pt-BR" sz="2400" cap="none" dirty="0" err="1" smtClean="0">
                <a:latin typeface="Times New Roman" panose="02020603050405020304" pitchFamily="18" charset="0"/>
                <a:cs typeface="Times New Roman" panose="02020603050405020304" pitchFamily="18" charset="0"/>
              </a:rPr>
              <a:t>ii</a:t>
            </a:r>
            <a:r>
              <a:rPr lang="pt-BR" sz="2400" cap="none" dirty="0" smtClean="0">
                <a:latin typeface="Times New Roman" panose="02020603050405020304" pitchFamily="18" charset="0"/>
                <a:cs typeface="Times New Roman" panose="02020603050405020304" pitchFamily="18" charset="0"/>
              </a:rPr>
              <a:t>) determinar à união que se abstenha de se omitir em fazer funcionar o fundo clima ou em destinar seus recursos; e (</a:t>
            </a:r>
            <a:r>
              <a:rPr lang="pt-BR" sz="2400" cap="none" dirty="0" err="1" smtClean="0">
                <a:latin typeface="Times New Roman" panose="02020603050405020304" pitchFamily="18" charset="0"/>
                <a:cs typeface="Times New Roman" panose="02020603050405020304" pitchFamily="18" charset="0"/>
              </a:rPr>
              <a:t>iii</a:t>
            </a:r>
            <a:r>
              <a:rPr lang="pt-BR" sz="2400" cap="none" dirty="0" smtClean="0">
                <a:latin typeface="Times New Roman" panose="02020603050405020304" pitchFamily="18" charset="0"/>
                <a:cs typeface="Times New Roman" panose="02020603050405020304" pitchFamily="18" charset="0"/>
              </a:rPr>
              <a:t>) vedar o contingenciamento das receitas que integram o fundo, fixando a seguinte tese de julgamento: "O poder executivo tem o dever constitucional de fazer funcionar e alocar anualmente os recursos do fundo clima, para fins de mitigação das mudanças climáticas, estando vedado seu contingenciamento, em razão do dever constitucional de tutela ao meio ambiente (CF, art. 225), de direitos e compromissos internacionais assumidos pelo Brasil (CF, art. 5º, par. 2º), bem como do princípio constitucional da separação dos poderes (CF, art. 2º c/c art. 9º, par. 2º, LRF)".</a:t>
            </a:r>
            <a:r>
              <a:rPr lang="pt-BR" dirty="0"/>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25000" lnSpcReduction="20000"/>
          </a:bodyPr>
          <a:lstStyle/>
          <a:p>
            <a:pPr fontAlgn="t"/>
            <a:r>
              <a:rPr lang="pt-BR" sz="8800" b="1" u="sng" dirty="0" smtClean="0">
                <a:latin typeface="Times New Roman" panose="02020603050405020304" pitchFamily="18" charset="0"/>
                <a:cs typeface="Times New Roman" panose="02020603050405020304" pitchFamily="18" charset="0"/>
              </a:rPr>
              <a:t>Litigância Climática no mundo....</a:t>
            </a:r>
          </a:p>
          <a:p>
            <a:pPr fontAlgn="base"/>
            <a:endParaRPr lang="pt-BR" sz="8800" dirty="0" smtClean="0">
              <a:latin typeface="Times New Roman" panose="02020603050405020304" pitchFamily="18" charset="0"/>
              <a:cs typeface="Times New Roman" panose="02020603050405020304" pitchFamily="18" charset="0"/>
            </a:endParaRPr>
          </a:p>
          <a:p>
            <a:pPr fontAlgn="base"/>
            <a:r>
              <a:rPr lang="pt-BR" sz="8800" cap="none" dirty="0" smtClean="0">
                <a:latin typeface="Times New Roman" panose="02020603050405020304" pitchFamily="18" charset="0"/>
                <a:cs typeface="Times New Roman" panose="02020603050405020304" pitchFamily="18" charset="0"/>
              </a:rPr>
              <a:t>Na Holanda, a </a:t>
            </a:r>
            <a:r>
              <a:rPr lang="pt-BR" sz="8800" cap="none" dirty="0" err="1" smtClean="0">
                <a:latin typeface="Times New Roman" panose="02020603050405020304" pitchFamily="18" charset="0"/>
                <a:cs typeface="Times New Roman" panose="02020603050405020304" pitchFamily="18" charset="0"/>
              </a:rPr>
              <a:t>Urgenda</a:t>
            </a:r>
            <a:r>
              <a:rPr lang="pt-BR" sz="8800" cap="none" dirty="0" smtClean="0">
                <a:latin typeface="Times New Roman" panose="02020603050405020304" pitchFamily="18" charset="0"/>
                <a:cs typeface="Times New Roman" panose="02020603050405020304" pitchFamily="18" charset="0"/>
              </a:rPr>
              <a:t>, uma organização da sociedade civil, ajuizou em 2015 ação contra o governo solicitando que o país assumisse a obrigação de reduzir ou garantir a redução das emissões de gases de efeito estufa (GEE) da </a:t>
            </a:r>
            <a:r>
              <a:rPr lang="pt-BR" sz="8800" cap="none" dirty="0">
                <a:latin typeface="Times New Roman" panose="02020603050405020304" pitchFamily="18" charset="0"/>
                <a:cs typeface="Times New Roman" panose="02020603050405020304" pitchFamily="18" charset="0"/>
              </a:rPr>
              <a:t>H</a:t>
            </a:r>
            <a:r>
              <a:rPr lang="pt-BR" sz="8800" cap="none" dirty="0" smtClean="0">
                <a:latin typeface="Times New Roman" panose="02020603050405020304" pitchFamily="18" charset="0"/>
                <a:cs typeface="Times New Roman" panose="02020603050405020304" pitchFamily="18" charset="0"/>
              </a:rPr>
              <a:t>olanda em 40% até 2020 ou, ao menos, 25%, em comparação com os níveis de 1990. O pedido acabaria por impor uma meta mais ambiciosa do que aquela assumida pelo governo holandês. A fundamentação do pedido se baseou em dados científicos e obrigações legais assumidas pelo país nos níveis internacional, regional e nacional. A decisão do caso, em 2018, foi favorável ao pedido da </a:t>
            </a:r>
            <a:r>
              <a:rPr lang="pt-BR" sz="8800" cap="none" dirty="0" err="1" smtClean="0">
                <a:latin typeface="Times New Roman" panose="02020603050405020304" pitchFamily="18" charset="0"/>
                <a:cs typeface="Times New Roman" panose="02020603050405020304" pitchFamily="18" charset="0"/>
              </a:rPr>
              <a:t>Urgenda</a:t>
            </a:r>
            <a:r>
              <a:rPr lang="pt-BR" sz="8800" cap="none" dirty="0" smtClean="0">
                <a:latin typeface="Times New Roman" panose="02020603050405020304" pitchFamily="18" charset="0"/>
                <a:cs typeface="Times New Roman" panose="02020603050405020304" pitchFamily="18" charset="0"/>
              </a:rPr>
              <a:t>, fundamentando-se na possibilidade de o poder judiciário avaliar o atendimento ou não a direitos fundamentais.</a:t>
            </a:r>
            <a:endParaRPr lang="pt-BR" sz="8800" cap="none"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47500" lnSpcReduction="20000"/>
          </a:bodyPr>
          <a:lstStyle/>
          <a:p>
            <a:pPr fontAlgn="t"/>
            <a:r>
              <a:rPr lang="pt-BR" sz="5100" b="1" u="sng" dirty="0" smtClean="0">
                <a:latin typeface="Times New Roman" panose="02020603050405020304" pitchFamily="18" charset="0"/>
                <a:cs typeface="Times New Roman" panose="02020603050405020304" pitchFamily="18" charset="0"/>
              </a:rPr>
              <a:t>Litigância Climática no mundo....</a:t>
            </a:r>
          </a:p>
          <a:p>
            <a:pPr fontAlgn="base"/>
            <a:endParaRPr lang="pt-BR" sz="8800" dirty="0" smtClean="0">
              <a:latin typeface="Times New Roman" panose="02020603050405020304" pitchFamily="18" charset="0"/>
              <a:cs typeface="Times New Roman" panose="02020603050405020304" pitchFamily="18" charset="0"/>
            </a:endParaRPr>
          </a:p>
          <a:p>
            <a:pPr fontAlgn="base"/>
            <a:r>
              <a:rPr lang="pt-BR" sz="6800" cap="none" dirty="0">
                <a:latin typeface="Times New Roman" panose="02020603050405020304" pitchFamily="18" charset="0"/>
                <a:cs typeface="Times New Roman" panose="02020603050405020304" pitchFamily="18" charset="0"/>
              </a:rPr>
              <a:t>N</a:t>
            </a:r>
            <a:r>
              <a:rPr lang="pt-BR" sz="6800" cap="none" dirty="0" smtClean="0">
                <a:latin typeface="Times New Roman" panose="02020603050405020304" pitchFamily="18" charset="0"/>
                <a:cs typeface="Times New Roman" panose="02020603050405020304" pitchFamily="18" charset="0"/>
              </a:rPr>
              <a:t>o Paquistão, um agricultor entrou com uma ação judicial, em 2015, contra o governo alegando omissão e atrasos por parte deste na implementação da política nacional de mudanças climáticas e no enfrentamento das vulnerabilidades associadas às mudanças climáticas. A Corte responsável aceitou o pedido e determinou, em 2018, a criação de uma comissão para monitorar a implantação da política em questão.</a:t>
            </a:r>
            <a:endParaRPr lang="pt-BR" sz="6800" cap="none"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pPr fontAlgn="t"/>
            <a:r>
              <a:rPr lang="pt-BR" sz="2400" b="1" u="sng" dirty="0" smtClean="0">
                <a:latin typeface="Times New Roman" panose="02020603050405020304" pitchFamily="18" charset="0"/>
                <a:cs typeface="Times New Roman" panose="02020603050405020304" pitchFamily="18" charset="0"/>
              </a:rPr>
              <a:t>Litigância Climática no mundo....</a:t>
            </a:r>
          </a:p>
          <a:p>
            <a:pPr fontAlgn="base"/>
            <a:endParaRPr lang="pt-BR" sz="2400" dirty="0" smtClean="0">
              <a:latin typeface="Times New Roman" panose="02020603050405020304" pitchFamily="18" charset="0"/>
              <a:cs typeface="Times New Roman" panose="02020603050405020304" pitchFamily="18" charset="0"/>
            </a:endParaRPr>
          </a:p>
          <a:p>
            <a:pPr fontAlgn="base"/>
            <a:r>
              <a:rPr lang="pt-BR" sz="2400" cap="none" dirty="0" smtClean="0">
                <a:latin typeface="Times New Roman" panose="02020603050405020304" pitchFamily="18" charset="0"/>
                <a:cs typeface="Times New Roman" panose="02020603050405020304" pitchFamily="18" charset="0"/>
              </a:rPr>
              <a:t>Em 2015, o peruano </a:t>
            </a:r>
            <a:r>
              <a:rPr lang="pt-BR" sz="2400" cap="none" dirty="0" err="1">
                <a:latin typeface="Times New Roman" panose="02020603050405020304" pitchFamily="18" charset="0"/>
                <a:cs typeface="Times New Roman" panose="02020603050405020304" pitchFamily="18" charset="0"/>
              </a:rPr>
              <a:t>S</a:t>
            </a:r>
            <a:r>
              <a:rPr lang="pt-BR" sz="2400" cap="none" dirty="0" err="1" smtClean="0">
                <a:latin typeface="Times New Roman" panose="02020603050405020304" pitchFamily="18" charset="0"/>
                <a:cs typeface="Times New Roman" panose="02020603050405020304" pitchFamily="18" charset="0"/>
              </a:rPr>
              <a:t>aúl</a:t>
            </a:r>
            <a:r>
              <a:rPr lang="pt-BR" sz="2400" cap="none" dirty="0" smtClean="0">
                <a:latin typeface="Times New Roman" panose="02020603050405020304" pitchFamily="18" charset="0"/>
                <a:cs typeface="Times New Roman" panose="02020603050405020304" pitchFamily="18" charset="0"/>
              </a:rPr>
              <a:t> Luciano </a:t>
            </a:r>
            <a:r>
              <a:rPr lang="pt-BR" sz="2400" cap="none" dirty="0" err="1" smtClean="0">
                <a:latin typeface="Times New Roman" panose="02020603050405020304" pitchFamily="18" charset="0"/>
                <a:cs typeface="Times New Roman" panose="02020603050405020304" pitchFamily="18" charset="0"/>
              </a:rPr>
              <a:t>Lliuya</a:t>
            </a:r>
            <a:r>
              <a:rPr lang="pt-BR" sz="2400" cap="none" dirty="0" smtClean="0">
                <a:latin typeface="Times New Roman" panose="02020603050405020304" pitchFamily="18" charset="0"/>
                <a:cs typeface="Times New Roman" panose="02020603050405020304" pitchFamily="18" charset="0"/>
              </a:rPr>
              <a:t> entrou com uma ação, no judiciário alemão, contra a RWE, maior empresa energética da Alemanha, com o objetivo de ordenar a empresa a pagar uma parcela dos custos de medidas de adaptação às mudanças climáticas que ele e seus coabitantes de </a:t>
            </a:r>
            <a:r>
              <a:rPr lang="pt-BR" sz="2400" cap="none" dirty="0" err="1">
                <a:latin typeface="Times New Roman" panose="02020603050405020304" pitchFamily="18" charset="0"/>
                <a:cs typeface="Times New Roman" panose="02020603050405020304" pitchFamily="18" charset="0"/>
              </a:rPr>
              <a:t>H</a:t>
            </a:r>
            <a:r>
              <a:rPr lang="pt-BR" sz="2400" cap="none" dirty="0" err="1" smtClean="0">
                <a:latin typeface="Times New Roman" panose="02020603050405020304" pitchFamily="18" charset="0"/>
                <a:cs typeface="Times New Roman" panose="02020603050405020304" pitchFamily="18" charset="0"/>
              </a:rPr>
              <a:t>uaraz</a:t>
            </a:r>
            <a:r>
              <a:rPr lang="pt-BR" sz="2400" cap="none" dirty="0" smtClean="0">
                <a:latin typeface="Times New Roman" panose="02020603050405020304" pitchFamily="18" charset="0"/>
                <a:cs typeface="Times New Roman" panose="02020603050405020304" pitchFamily="18" charset="0"/>
              </a:rPr>
              <a:t> terão de implementar. Na região, barragens precisam ser construídas para proteger a cidade do crescimento do lago glacial </a:t>
            </a:r>
            <a:r>
              <a:rPr lang="pt-BR" sz="2400" cap="none" dirty="0" err="1" smtClean="0">
                <a:latin typeface="Times New Roman" panose="02020603050405020304" pitchFamily="18" charset="0"/>
                <a:cs typeface="Times New Roman" panose="02020603050405020304" pitchFamily="18" charset="0"/>
              </a:rPr>
              <a:t>palcacocha</a:t>
            </a:r>
            <a:r>
              <a:rPr lang="pt-BR" sz="2400" cap="none" dirty="0" smtClean="0">
                <a:latin typeface="Times New Roman" panose="02020603050405020304" pitchFamily="18" charset="0"/>
                <a:cs typeface="Times New Roman" panose="02020603050405020304" pitchFamily="18" charset="0"/>
              </a:rPr>
              <a:t>, que se formou em decorrência do derretimento de geleiras nas proximidades. </a:t>
            </a:r>
            <a:r>
              <a:rPr lang="pt-BR" sz="2400" cap="none" dirty="0" err="1" smtClean="0">
                <a:latin typeface="Times New Roman" panose="02020603050405020304" pitchFamily="18" charset="0"/>
                <a:cs typeface="Times New Roman" panose="02020603050405020304" pitchFamily="18" charset="0"/>
              </a:rPr>
              <a:t>Lliuya</a:t>
            </a:r>
            <a:r>
              <a:rPr lang="pt-BR" sz="2400" cap="none" dirty="0" smtClean="0">
                <a:latin typeface="Times New Roman" panose="02020603050405020304" pitchFamily="18" charset="0"/>
                <a:cs typeface="Times New Roman" panose="02020603050405020304" pitchFamily="18" charset="0"/>
              </a:rPr>
              <a:t> alega que a RWE, como emissora de volumes substanciais de GEE, é parcialmente responsável pelos danos iminentes aos cidadãos peruanos. O judiciário alemão, em primeira instância, rejeitou as alegações com base no argumento da ausência de nexo causal; mas, em 2017, em sede de recurso, a corte admitiu seu pleito.</a:t>
            </a:r>
            <a:endParaRPr lang="pt-BR" sz="2400" cap="none"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200" b="1" u="sng" dirty="0" smtClean="0">
                <a:latin typeface="Times New Roman" panose="02020603050405020304" pitchFamily="18" charset="0"/>
                <a:cs typeface="Times New Roman" panose="02020603050405020304" pitchFamily="18" charset="0"/>
              </a:rPr>
              <a:t>Litigância Climática no mundo....</a:t>
            </a:r>
          </a:p>
          <a:p>
            <a:pPr algn="just" fontAlgn="base"/>
            <a:r>
              <a:rPr lang="pt-BR" sz="2200" cap="none" dirty="0" smtClean="0">
                <a:latin typeface="Times New Roman" panose="02020603050405020304" pitchFamily="18" charset="0"/>
                <a:cs typeface="Times New Roman" panose="02020603050405020304" pitchFamily="18" charset="0"/>
              </a:rPr>
              <a:t>Na </a:t>
            </a:r>
            <a:r>
              <a:rPr lang="pt-BR" sz="2200" cap="none" dirty="0">
                <a:latin typeface="Times New Roman" panose="02020603050405020304" pitchFamily="18" charset="0"/>
                <a:cs typeface="Times New Roman" panose="02020603050405020304" pitchFamily="18" charset="0"/>
              </a:rPr>
              <a:t>C</a:t>
            </a:r>
            <a:r>
              <a:rPr lang="pt-BR" sz="2200" cap="none" dirty="0" smtClean="0">
                <a:latin typeface="Times New Roman" panose="02020603050405020304" pitchFamily="18" charset="0"/>
                <a:cs typeface="Times New Roman" panose="02020603050405020304" pitchFamily="18" charset="0"/>
              </a:rPr>
              <a:t>olômbia, 25 jovens entraram com ações em diferentes níveis, especialmente contra o ministério do meio ambiente da Colômbia, exigindo seus direitos ao meio ambiente, à vida, à saúde, à alimentação e à água. Os autores alegaram que as mudanças climáticas, juntamente com o fracasso do estado em reduzir o desmatamento e garantir o cumprimento da meta de desmatamento líquido zero na </a:t>
            </a:r>
            <a:r>
              <a:rPr lang="pt-BR" sz="2200" cap="none" dirty="0">
                <a:latin typeface="Times New Roman" panose="02020603050405020304" pitchFamily="18" charset="0"/>
                <a:cs typeface="Times New Roman" panose="02020603050405020304" pitchFamily="18" charset="0"/>
              </a:rPr>
              <a:t>A</a:t>
            </a:r>
            <a:r>
              <a:rPr lang="pt-BR" sz="2200" cap="none" dirty="0" smtClean="0">
                <a:latin typeface="Times New Roman" panose="02020603050405020304" pitchFamily="18" charset="0"/>
                <a:cs typeface="Times New Roman" panose="02020603050405020304" pitchFamily="18" charset="0"/>
              </a:rPr>
              <a:t>mazônia colombiana até o ano de 2020 (estabelecido no acordo de paris), representam grandes ameaças aos direitos fundamentais das futuras gerações. Com perdas na primeira instância, o caso chegou à suprema corte que, em 2018, reverteu as decisões a favor dos pedidos dos cidadãos colombianos.</a:t>
            </a:r>
          </a:p>
          <a:p>
            <a:pPr algn="just" fontAlgn="base"/>
            <a:endParaRPr lang="pt-BR" sz="1600" dirty="0" smtClean="0">
              <a:latin typeface="Times New Roman" panose="02020603050405020304" pitchFamily="18" charset="0"/>
              <a:cs typeface="Times New Roman" panose="02020603050405020304" pitchFamily="18" charset="0"/>
            </a:endParaRPr>
          </a:p>
          <a:p>
            <a:pPr algn="just" fontAlgn="base"/>
            <a:r>
              <a:rPr lang="pt-BR" sz="1600" dirty="0" smtClean="0">
                <a:latin typeface="Times New Roman" panose="02020603050405020304" pitchFamily="18" charset="0"/>
                <a:cs typeface="Times New Roman" panose="02020603050405020304" pitchFamily="18" charset="0"/>
              </a:rPr>
              <a:t>https</a:t>
            </a:r>
            <a:r>
              <a:rPr lang="pt-BR" sz="1600" dirty="0">
                <a:latin typeface="Times New Roman" panose="02020603050405020304" pitchFamily="18" charset="0"/>
                <a:cs typeface="Times New Roman" panose="02020603050405020304" pitchFamily="18" charset="0"/>
              </a:rPr>
              <a:t>://www.cnnbrasil.com.br/internacional/crise-climatica-faz-seis-jovens-portugueses-processarem-32-paises-em-tribunal-de-direitos-humanos</a:t>
            </a:r>
            <a:r>
              <a:rPr lang="pt-BR" sz="1600" dirty="0" smtClean="0">
                <a:latin typeface="Times New Roman" panose="02020603050405020304" pitchFamily="18" charset="0"/>
                <a:cs typeface="Times New Roman" panose="02020603050405020304" pitchFamily="18" charset="0"/>
              </a:rPr>
              <a:t>/</a:t>
            </a:r>
          </a:p>
          <a:p>
            <a:pPr algn="just" fontAlgn="base"/>
            <a:endParaRPr lang="pt-BR" sz="2200" dirty="0" smtClean="0">
              <a:latin typeface="Times New Roman" panose="02020603050405020304" pitchFamily="18" charset="0"/>
              <a:cs typeface="Times New Roman" panose="02020603050405020304" pitchFamily="18" charset="0"/>
            </a:endParaRPr>
          </a:p>
          <a:p>
            <a:pPr algn="just" fontAlgn="base"/>
            <a:endParaRPr lang="pt-BR" sz="22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92500" lnSpcReduction="20000"/>
          </a:bodyPr>
          <a:lstStyle/>
          <a:p>
            <a:pPr fontAlgn="t"/>
            <a:r>
              <a:rPr lang="pt-BR" sz="2600" b="1" cap="none" dirty="0" smtClean="0">
                <a:latin typeface="Times New Roman" panose="02020603050405020304" pitchFamily="18" charset="0"/>
                <a:cs typeface="Times New Roman" panose="02020603050405020304" pitchFamily="18" charset="0"/>
              </a:rPr>
              <a:t>COP 26 = </a:t>
            </a:r>
            <a:r>
              <a:rPr lang="pt-BR" sz="2800" cap="none" dirty="0">
                <a:latin typeface="Times New Roman" panose="02020603050405020304" pitchFamily="18" charset="0"/>
                <a:cs typeface="Times New Roman" panose="02020603050405020304" pitchFamily="18" charset="0"/>
              </a:rPr>
              <a:t>de 31/10 até 12/11 em Glasgow, na Escócia</a:t>
            </a:r>
            <a:r>
              <a:rPr lang="pt-BR" sz="2800" cap="none" dirty="0" smtClean="0">
                <a:latin typeface="Times New Roman" panose="02020603050405020304" pitchFamily="18" charset="0"/>
                <a:cs typeface="Times New Roman" panose="02020603050405020304" pitchFamily="18" charset="0"/>
              </a:rPr>
              <a:t>;</a:t>
            </a:r>
          </a:p>
          <a:p>
            <a:pPr fontAlgn="t"/>
            <a:r>
              <a:rPr lang="pt-BR" sz="2200" cap="none" dirty="0">
                <a:latin typeface="Times New Roman" panose="02020603050405020304" pitchFamily="18" charset="0"/>
                <a:cs typeface="Times New Roman" panose="02020603050405020304" pitchFamily="18" charset="0"/>
              </a:rPr>
              <a:t>Brasil....</a:t>
            </a:r>
          </a:p>
          <a:p>
            <a:pPr marL="0" indent="0" fontAlgn="t">
              <a:buNone/>
            </a:pPr>
            <a:r>
              <a:rPr lang="pt-BR" sz="2200" cap="none" dirty="0">
                <a:latin typeface="Times New Roman" panose="02020603050405020304" pitchFamily="18" charset="0"/>
                <a:cs typeface="Times New Roman" panose="02020603050405020304" pitchFamily="18" charset="0"/>
              </a:rPr>
              <a:t>- apresenta a meta de zerar o desmatamento ilegal antes de 2030</a:t>
            </a:r>
            <a:r>
              <a:rPr lang="pt-BR" sz="2200" cap="none" dirty="0" smtClean="0">
                <a:latin typeface="Times New Roman" panose="02020603050405020304" pitchFamily="18" charset="0"/>
                <a:cs typeface="Times New Roman" panose="02020603050405020304" pitchFamily="18" charset="0"/>
              </a:rPr>
              <a:t>;</a:t>
            </a:r>
            <a:endParaRPr lang="pt-BR" sz="2200" cap="none" dirty="0">
              <a:latin typeface="Times New Roman" panose="02020603050405020304" pitchFamily="18" charset="0"/>
              <a:cs typeface="Times New Roman" panose="02020603050405020304" pitchFamily="18" charset="0"/>
            </a:endParaRPr>
          </a:p>
          <a:p>
            <a:pPr fontAlgn="t"/>
            <a:r>
              <a:rPr lang="pt-BR" sz="2600" b="1" cap="none" dirty="0" smtClean="0">
                <a:latin typeface="Times New Roman" panose="02020603050405020304" pitchFamily="18" charset="0"/>
                <a:cs typeface="Times New Roman" panose="02020603050405020304" pitchFamily="18" charset="0"/>
              </a:rPr>
              <a:t> Resultados... </a:t>
            </a:r>
            <a:endParaRPr lang="pt-BR" sz="2400" cap="none" dirty="0">
              <a:latin typeface="Times New Roman" panose="02020603050405020304" pitchFamily="18" charset="0"/>
              <a:cs typeface="Times New Roman" panose="02020603050405020304" pitchFamily="18" charset="0"/>
            </a:endParaRPr>
          </a:p>
          <a:p>
            <a:pPr fontAlgn="base"/>
            <a:r>
              <a:rPr lang="pt-BR" cap="none" dirty="0" smtClean="0">
                <a:latin typeface="Times New Roman" panose="02020603050405020304" pitchFamily="18" charset="0"/>
                <a:cs typeface="Times New Roman" panose="02020603050405020304" pitchFamily="18" charset="0"/>
              </a:rPr>
              <a:t>A promessa da Índia de ter 50% de sua geração de eletricidade a partir de energias renováveis até 2030 (isso não implica diminuir as emissões de GEE) e neutralidade carbono em 2070;</a:t>
            </a:r>
          </a:p>
          <a:p>
            <a:pPr fontAlgn="base"/>
            <a:r>
              <a:rPr lang="pt-BR" cap="none" dirty="0" smtClean="0">
                <a:latin typeface="Times New Roman" panose="02020603050405020304" pitchFamily="18" charset="0"/>
                <a:cs typeface="Times New Roman" panose="02020603050405020304" pitchFamily="18" charset="0"/>
              </a:rPr>
              <a:t>The Glasgow </a:t>
            </a:r>
            <a:r>
              <a:rPr lang="pt-BR" cap="none" dirty="0" err="1">
                <a:latin typeface="Times New Roman" panose="02020603050405020304" pitchFamily="18" charset="0"/>
                <a:cs typeface="Times New Roman" panose="02020603050405020304" pitchFamily="18" charset="0"/>
              </a:rPr>
              <a:t>D</a:t>
            </a:r>
            <a:r>
              <a:rPr lang="pt-BR" cap="none" dirty="0" err="1" smtClean="0">
                <a:latin typeface="Times New Roman" panose="02020603050405020304" pitchFamily="18" charset="0"/>
                <a:cs typeface="Times New Roman" panose="02020603050405020304" pitchFamily="18" charset="0"/>
              </a:rPr>
              <a:t>eclaration</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on</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Forests</a:t>
            </a:r>
            <a:r>
              <a:rPr lang="pt-BR" cap="none" dirty="0" smtClean="0">
                <a:latin typeface="Times New Roman" panose="02020603050405020304" pitchFamily="18" charset="0"/>
                <a:cs typeface="Times New Roman" panose="02020603050405020304" pitchFamily="18" charset="0"/>
              </a:rPr>
              <a:t>: reduzir a zero ou diminuir significativamente o desmatamento até 2030. Assinada pelo Brasil, Indonésia e pela Rússia, entre outros. Trata-se de uma repetição da declaração de New York de 2014: redução de 50% até 2020 e 100% em 2030. Não assinada, de resto, em 2014 pelo Brasil. Além disso, a declaração de </a:t>
            </a:r>
            <a:r>
              <a:rPr lang="pt-BR" cap="none" dirty="0">
                <a:latin typeface="Times New Roman" panose="02020603050405020304" pitchFamily="18" charset="0"/>
                <a:cs typeface="Times New Roman" panose="02020603050405020304" pitchFamily="18" charset="0"/>
              </a:rPr>
              <a:t>G</a:t>
            </a:r>
            <a:r>
              <a:rPr lang="pt-BR" cap="none" dirty="0" smtClean="0">
                <a:latin typeface="Times New Roman" panose="02020603050405020304" pitchFamily="18" charset="0"/>
                <a:cs typeface="Times New Roman" panose="02020603050405020304" pitchFamily="18" charset="0"/>
              </a:rPr>
              <a:t>lasgow refere-se apenas a desmatamento por corte raso. Nenhuma palavra sobre extração seletiva de madeira e degradação das florestas.</a:t>
            </a:r>
          </a:p>
          <a:p>
            <a:pPr fontAlgn="base"/>
            <a:r>
              <a:rPr lang="pt-BR" cap="none" dirty="0" smtClean="0">
                <a:latin typeface="Times New Roman" panose="02020603050405020304" pitchFamily="18" charset="0"/>
                <a:cs typeface="Times New Roman" panose="02020603050405020304" pitchFamily="18" charset="0"/>
              </a:rPr>
              <a:t>A declaração sobre a redução e o maior controle sobre as emissões de metano. Ocorre que China, Índia e Rússia, os grandes emissores, não assinaram essa declaração.</a:t>
            </a:r>
          </a:p>
          <a:p>
            <a:pPr fontAlgn="base"/>
            <a:r>
              <a:rPr lang="pt-BR" cap="none" dirty="0" smtClean="0">
                <a:latin typeface="Times New Roman" panose="02020603050405020304" pitchFamily="18" charset="0"/>
                <a:cs typeface="Times New Roman" panose="02020603050405020304" pitchFamily="18" charset="0"/>
              </a:rPr>
              <a:t> Repasse de recursos: os tais us$100 bilhões prometidos desde 2009 até 2020 e agora até 2025. Mas a promessa é que eles sejam atingidos apenas em 2023. O que foi até agora repassado, o foi em grande parte na forma de empréstimos. </a:t>
            </a:r>
          </a:p>
          <a:p>
            <a:pPr fontAlgn="t"/>
            <a:endParaRPr lang="pt-B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600" b="1" cap="none" dirty="0" smtClean="0">
                <a:latin typeface="Times New Roman" panose="02020603050405020304" pitchFamily="18" charset="0"/>
                <a:cs typeface="Times New Roman" panose="02020603050405020304" pitchFamily="18" charset="0"/>
              </a:rPr>
              <a:t>COP 26 = Resultados... </a:t>
            </a:r>
          </a:p>
          <a:p>
            <a:pPr fontAlgn="base"/>
            <a:endParaRPr lang="pt-BR" cap="none" dirty="0" smtClean="0">
              <a:latin typeface="Times New Roman" panose="02020603050405020304" pitchFamily="18" charset="0"/>
              <a:cs typeface="Times New Roman" panose="02020603050405020304" pitchFamily="18" charset="0"/>
            </a:endParaRPr>
          </a:p>
          <a:p>
            <a:pPr fontAlgn="base"/>
            <a:r>
              <a:rPr lang="pt-BR" cap="none" dirty="0" smtClean="0">
                <a:latin typeface="Times New Roman" panose="02020603050405020304" pitchFamily="18" charset="0"/>
                <a:cs typeface="Times New Roman" panose="02020603050405020304" pitchFamily="18" charset="0"/>
              </a:rPr>
              <a:t>Carvão: as promessas de abandoná-lo têm prazos demasiado longos: a década de 2030 e a década de 2040. Eles teriam que ser abandonados até no máximo em 2030. Além disso, a China, os EUA, Índia, Japão e Austrália não assinaram esse acordo. Eles devem responder, juntos, por cerca de 80% do consumo global de carvão…</a:t>
            </a:r>
          </a:p>
          <a:p>
            <a:pPr fontAlgn="base"/>
            <a:r>
              <a:rPr lang="pt-BR" cap="none" dirty="0" smtClean="0">
                <a:latin typeface="Times New Roman" panose="02020603050405020304" pitchFamily="18" charset="0"/>
                <a:cs typeface="Times New Roman" panose="02020603050405020304" pitchFamily="18" charset="0"/>
              </a:rPr>
              <a:t>Carros com motor a combustão: promessa de parar de vendê-los em 2035 para os maiores mercados e até 2040 para mercados menores. Mas os dois maiores fabricantes: VW e Toyota não assinaram, além de Renault-Nissan e Hyundai. E os EUA, a Alemanha e a China não apoiaram essas promessas.</a:t>
            </a:r>
          </a:p>
          <a:p>
            <a:pPr fontAlgn="base"/>
            <a:r>
              <a:rPr lang="pt-BR" cap="none" dirty="0" smtClean="0">
                <a:latin typeface="Times New Roman" panose="02020603050405020304" pitchFamily="18" charset="0"/>
                <a:cs typeface="Times New Roman" panose="02020603050405020304" pitchFamily="18" charset="0"/>
              </a:rPr>
              <a:t>BOGA: </a:t>
            </a:r>
            <a:r>
              <a:rPr lang="pt-BR" cap="none" dirty="0" err="1" smtClean="0">
                <a:latin typeface="Times New Roman" panose="02020603050405020304" pitchFamily="18" charset="0"/>
                <a:cs typeface="Times New Roman" panose="02020603050405020304" pitchFamily="18" charset="0"/>
              </a:rPr>
              <a:t>beyond</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oil</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and</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gas</a:t>
            </a:r>
            <a:r>
              <a:rPr lang="pt-BR" cap="none" dirty="0" smtClean="0">
                <a:latin typeface="Times New Roman" panose="02020603050405020304" pitchFamily="18" charset="0"/>
                <a:cs typeface="Times New Roman" panose="02020603050405020304" pitchFamily="18" charset="0"/>
              </a:rPr>
              <a:t> </a:t>
            </a:r>
            <a:r>
              <a:rPr lang="pt-BR" cap="none" dirty="0" err="1" smtClean="0">
                <a:latin typeface="Times New Roman" panose="02020603050405020304" pitchFamily="18" charset="0"/>
                <a:cs typeface="Times New Roman" panose="02020603050405020304" pitchFamily="18" charset="0"/>
              </a:rPr>
              <a:t>alliance</a:t>
            </a:r>
            <a:r>
              <a:rPr lang="pt-BR" cap="none" dirty="0" smtClean="0">
                <a:latin typeface="Times New Roman" panose="02020603050405020304" pitchFamily="18" charset="0"/>
                <a:cs typeface="Times New Roman" panose="02020603050405020304" pitchFamily="18" charset="0"/>
              </a:rPr>
              <a:t>, assinada por 12 países. Promete terminar com a exploração do petróleo em… 2050. E nem as petroleiras, nem os países produtores de petróleo participaram dessa declaração.</a:t>
            </a:r>
          </a:p>
          <a:p>
            <a:pPr fontAlgn="base"/>
            <a:r>
              <a:rPr lang="pt-BR" cap="none" dirty="0" smtClean="0">
                <a:latin typeface="Times New Roman" panose="02020603050405020304" pitchFamily="18" charset="0"/>
                <a:cs typeface="Times New Roman" panose="02020603050405020304" pitchFamily="18" charset="0"/>
              </a:rPr>
              <a:t>O único ponto positivo é a exortação, para que os países revisem suas ambições a cada nova COP, e não a cada 5 anos.</a:t>
            </a:r>
          </a:p>
          <a:p>
            <a:pPr marL="0" indent="0" fontAlgn="base">
              <a:buNone/>
            </a:pPr>
            <a:r>
              <a:rPr lang="pt-BR" sz="1400" cap="none" dirty="0" smtClean="0">
                <a:latin typeface="Times New Roman" panose="02020603050405020304" pitchFamily="18" charset="0"/>
                <a:cs typeface="Times New Roman" panose="02020603050405020304" pitchFamily="18" charset="0"/>
              </a:rPr>
              <a:t>(Fonte: www.ecodebate.com.br)</a:t>
            </a:r>
          </a:p>
          <a:p>
            <a:pPr fontAlgn="t"/>
            <a:endParaRPr lang="pt-BR" sz="2400" cap="none" dirty="0" smtClean="0">
              <a:latin typeface="Times New Roman" panose="02020603050405020304" pitchFamily="18" charset="0"/>
              <a:cs typeface="Times New Roman" panose="02020603050405020304" pitchFamily="18" charset="0"/>
            </a:endParaRPr>
          </a:p>
          <a:p>
            <a:pPr fontAlgn="t"/>
            <a:endParaRPr lang="pt-B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600" b="1" cap="none" dirty="0" smtClean="0">
                <a:latin typeface="Times New Roman" panose="02020603050405020304" pitchFamily="18" charset="0"/>
                <a:cs typeface="Times New Roman" panose="02020603050405020304" pitchFamily="18" charset="0"/>
              </a:rPr>
              <a:t>COP 27 (Egito) = Resultados... </a:t>
            </a:r>
          </a:p>
          <a:p>
            <a:pPr fontAlgn="t"/>
            <a:endParaRPr lang="pt-BR" sz="2400" cap="none" dirty="0">
              <a:latin typeface="Times New Roman" panose="02020603050405020304" pitchFamily="18" charset="0"/>
              <a:cs typeface="Times New Roman" panose="02020603050405020304" pitchFamily="18" charset="0"/>
            </a:endParaRPr>
          </a:p>
          <a:p>
            <a:pPr fontAlgn="base"/>
            <a:r>
              <a:rPr lang="pt-BR" b="1" dirty="0">
                <a:latin typeface="Times New Roman" panose="02020603050405020304" pitchFamily="18" charset="0"/>
                <a:cs typeface="Times New Roman" panose="02020603050405020304" pitchFamily="18" charset="0"/>
              </a:rPr>
              <a:t>Fundo para Perdas e Danos </a:t>
            </a:r>
            <a:endParaRPr lang="pt-BR" dirty="0">
              <a:latin typeface="Times New Roman" panose="02020603050405020304" pitchFamily="18" charset="0"/>
              <a:cs typeface="Times New Roman" panose="02020603050405020304" pitchFamily="18" charset="0"/>
            </a:endParaRPr>
          </a:p>
          <a:p>
            <a:pPr fontAlgn="base">
              <a:buFontTx/>
              <a:buChar char="-"/>
            </a:pPr>
            <a:r>
              <a:rPr lang="pt-BR" cap="none" dirty="0" smtClean="0">
                <a:latin typeface="Times New Roman" panose="02020603050405020304" pitchFamily="18" charset="0"/>
                <a:cs typeface="Times New Roman" panose="02020603050405020304" pitchFamily="18" charset="0"/>
              </a:rPr>
              <a:t>o objetivo seria que os maiores responsáveis pela crise climática custeassem os prejuízos causados por eventos extremos aos quais já não cabe adaptação, como ciclones e enchentes. os países concordaram com o “compromisso” de discutir a operacionalização do fundo para o próximo ano, na COP 28, que acontece nos Emirados Árabes</a:t>
            </a:r>
            <a:r>
              <a:rPr lang="pt-BR" dirty="0" smtClean="0">
                <a:latin typeface="Times New Roman" panose="02020603050405020304" pitchFamily="18" charset="0"/>
                <a:cs typeface="Times New Roman" panose="02020603050405020304" pitchFamily="18" charset="0"/>
              </a:rPr>
              <a:t>.</a:t>
            </a:r>
            <a:r>
              <a:rPr lang="pt-BR" dirty="0">
                <a:latin typeface="Times New Roman" panose="02020603050405020304" pitchFamily="18" charset="0"/>
                <a:cs typeface="Times New Roman" panose="02020603050405020304" pitchFamily="18" charset="0"/>
              </a:rPr>
              <a:t>  </a:t>
            </a:r>
            <a:endParaRPr lang="pt-BR" dirty="0" smtClean="0">
              <a:latin typeface="Times New Roman" panose="02020603050405020304" pitchFamily="18" charset="0"/>
              <a:cs typeface="Times New Roman" panose="02020603050405020304" pitchFamily="18" charset="0"/>
            </a:endParaRPr>
          </a:p>
          <a:p>
            <a:pPr fontAlgn="base"/>
            <a:endParaRPr lang="pt-BR" b="1" dirty="0" smtClean="0">
              <a:latin typeface="Times New Roman" panose="02020603050405020304" pitchFamily="18" charset="0"/>
              <a:cs typeface="Times New Roman" panose="02020603050405020304" pitchFamily="18" charset="0"/>
            </a:endParaRPr>
          </a:p>
          <a:p>
            <a:pPr fontAlgn="base"/>
            <a:r>
              <a:rPr lang="pt-BR" b="1" dirty="0" smtClean="0">
                <a:latin typeface="Times New Roman" panose="02020603050405020304" pitchFamily="18" charset="0"/>
                <a:cs typeface="Times New Roman" panose="02020603050405020304" pitchFamily="18" charset="0"/>
              </a:rPr>
              <a:t>Combustíveis </a:t>
            </a:r>
            <a:r>
              <a:rPr lang="pt-BR" b="1" dirty="0">
                <a:latin typeface="Times New Roman" panose="02020603050405020304" pitchFamily="18" charset="0"/>
                <a:cs typeface="Times New Roman" panose="02020603050405020304" pitchFamily="18" charset="0"/>
              </a:rPr>
              <a:t>fósseis</a:t>
            </a:r>
            <a:endParaRPr lang="pt-BR" dirty="0">
              <a:latin typeface="Times New Roman" panose="02020603050405020304" pitchFamily="18" charset="0"/>
              <a:cs typeface="Times New Roman" panose="02020603050405020304" pitchFamily="18" charset="0"/>
            </a:endParaRPr>
          </a:p>
          <a:p>
            <a:pPr fontAlgn="base">
              <a:buFontTx/>
              <a:buChar char="-"/>
            </a:pPr>
            <a:r>
              <a:rPr lang="pt-BR" cap="none" dirty="0" smtClean="0">
                <a:latin typeface="Times New Roman" panose="02020603050405020304" pitchFamily="18" charset="0"/>
                <a:cs typeface="Times New Roman" panose="02020603050405020304" pitchFamily="18" charset="0"/>
              </a:rPr>
              <a:t>por pressões de último minuto de potências petrolíferas, como Arábia </a:t>
            </a:r>
            <a:r>
              <a:rPr lang="pt-BR" cap="none" dirty="0">
                <a:latin typeface="Times New Roman" panose="02020603050405020304" pitchFamily="18" charset="0"/>
                <a:cs typeface="Times New Roman" panose="02020603050405020304" pitchFamily="18" charset="0"/>
              </a:rPr>
              <a:t>S</a:t>
            </a:r>
            <a:r>
              <a:rPr lang="pt-BR" cap="none" dirty="0" smtClean="0">
                <a:latin typeface="Times New Roman" panose="02020603050405020304" pitchFamily="18" charset="0"/>
                <a:cs typeface="Times New Roman" panose="02020603050405020304" pitchFamily="18" charset="0"/>
              </a:rPr>
              <a:t>audita e Rússia – cuja guerra travada com a Ucrânia aumentou a insegurança energética no mundo, assim como o uso de combustíveis fósseis – a menção de Glasgow a uma “redução gradativa” ficou ainda pior. não entraram os demais combustíveis fósseis e o texto da decisão inclui apenas a expressão “eliminar subsídios ineficientes”.</a:t>
            </a:r>
          </a:p>
          <a:p>
            <a:pPr fontAlgn="base">
              <a:buFontTx/>
              <a:buChar char="-"/>
            </a:pPr>
            <a:endParaRPr lang="pt-BR" sz="1400" cap="none" dirty="0">
              <a:latin typeface="Times New Roman" panose="02020603050405020304" pitchFamily="18" charset="0"/>
              <a:cs typeface="Times New Roman" panose="02020603050405020304" pitchFamily="18" charset="0"/>
            </a:endParaRPr>
          </a:p>
          <a:p>
            <a:pPr fontAlgn="base">
              <a:buFontTx/>
              <a:buChar char="-"/>
            </a:pPr>
            <a:endParaRPr lang="pt-BR" sz="1400" cap="none" dirty="0" smtClean="0">
              <a:latin typeface="Times New Roman" panose="02020603050405020304" pitchFamily="18" charset="0"/>
              <a:cs typeface="Times New Roman" panose="02020603050405020304" pitchFamily="18" charset="0"/>
            </a:endParaRPr>
          </a:p>
          <a:p>
            <a:pPr marL="0" indent="0" fontAlgn="t">
              <a:buNone/>
            </a:pPr>
            <a:endParaRPr lang="pt-BR" sz="2400" cap="none" dirty="0" smtClean="0">
              <a:latin typeface="Times New Roman" panose="02020603050405020304" pitchFamily="18" charset="0"/>
              <a:cs typeface="Times New Roman" panose="02020603050405020304" pitchFamily="18" charset="0"/>
            </a:endParaRPr>
          </a:p>
          <a:p>
            <a:pPr fontAlgn="t"/>
            <a:endParaRPr lang="pt-B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fontScale="92500" lnSpcReduction="20000"/>
          </a:bodyPr>
          <a:lstStyle/>
          <a:p>
            <a:pPr fontAlgn="t"/>
            <a:r>
              <a:rPr lang="pt-BR" sz="2600" b="1" cap="none" dirty="0" smtClean="0">
                <a:latin typeface="Times New Roman" panose="02020603050405020304" pitchFamily="18" charset="0"/>
                <a:cs typeface="Times New Roman" panose="02020603050405020304" pitchFamily="18" charset="0"/>
              </a:rPr>
              <a:t>COP 27 (Egito) = Resultados... </a:t>
            </a:r>
          </a:p>
          <a:p>
            <a:pPr fontAlgn="t"/>
            <a:endParaRPr lang="pt-BR" sz="2400" cap="none" dirty="0">
              <a:latin typeface="Times New Roman" panose="02020603050405020304" pitchFamily="18" charset="0"/>
              <a:cs typeface="Times New Roman" panose="02020603050405020304" pitchFamily="18" charset="0"/>
            </a:endParaRPr>
          </a:p>
          <a:p>
            <a:r>
              <a:rPr lang="pt-BR" b="1" dirty="0">
                <a:latin typeface="Times New Roman" panose="02020603050405020304" pitchFamily="18" charset="0"/>
                <a:cs typeface="Times New Roman" panose="02020603050405020304" pitchFamily="18" charset="0"/>
              </a:rPr>
              <a:t>Programa de Trabalho em Mitigação</a:t>
            </a:r>
            <a:endParaRPr lang="pt-BR" dirty="0">
              <a:latin typeface="Times New Roman" panose="02020603050405020304" pitchFamily="18" charset="0"/>
              <a:cs typeface="Times New Roman" panose="02020603050405020304" pitchFamily="18" charset="0"/>
            </a:endParaRPr>
          </a:p>
          <a:p>
            <a:pPr marL="0" indent="0">
              <a:buNone/>
            </a:pPr>
            <a:r>
              <a:rPr lang="pt-BR" dirty="0" smtClean="0">
                <a:latin typeface="Times New Roman" panose="02020603050405020304" pitchFamily="18" charset="0"/>
                <a:cs typeface="Times New Roman" panose="02020603050405020304" pitchFamily="18" charset="0"/>
              </a:rPr>
              <a:t>- </a:t>
            </a:r>
            <a:r>
              <a:rPr lang="pt-BR" cap="none" dirty="0" smtClean="0">
                <a:latin typeface="Times New Roman" panose="02020603050405020304" pitchFamily="18" charset="0"/>
                <a:cs typeface="Times New Roman" panose="02020603050405020304" pitchFamily="18" charset="0"/>
              </a:rPr>
              <a:t>foi criado com o objetivo de acelerar o corte de emissões dos países para manter a meta de aquecimento em 1,5ºc. importante salientar que o MWO trata das metas nacionais de cortes, as chamadas contribuições nacionalmente determinadas (NDC). os países em desenvolvimento, no entanto, não concordaram com a proposta, que não avançou no texto final da COP 27. segundo o G77, bloco de negociação que reúne economias pobres e emergentes, mexer no modo como as </a:t>
            </a:r>
            <a:r>
              <a:rPr lang="pt-BR" cap="none" dirty="0" err="1" smtClean="0">
                <a:latin typeface="Times New Roman" panose="02020603050405020304" pitchFamily="18" charset="0"/>
                <a:cs typeface="Times New Roman" panose="02020603050405020304" pitchFamily="18" charset="0"/>
              </a:rPr>
              <a:t>NDCs</a:t>
            </a:r>
            <a:r>
              <a:rPr lang="pt-BR" cap="none" dirty="0" smtClean="0">
                <a:latin typeface="Times New Roman" panose="02020603050405020304" pitchFamily="18" charset="0"/>
                <a:cs typeface="Times New Roman" panose="02020603050405020304" pitchFamily="18" charset="0"/>
              </a:rPr>
              <a:t> são determinadas é renegociar o acordo de Paris. o novo texto, acordado em </a:t>
            </a:r>
            <a:r>
              <a:rPr lang="pt-BR" cap="none" dirty="0">
                <a:latin typeface="Times New Roman" panose="02020603050405020304" pitchFamily="18" charset="0"/>
                <a:cs typeface="Times New Roman" panose="02020603050405020304" pitchFamily="18" charset="0"/>
              </a:rPr>
              <a:t>S</a:t>
            </a:r>
            <a:r>
              <a:rPr lang="pt-BR" cap="none" dirty="0" smtClean="0">
                <a:latin typeface="Times New Roman" panose="02020603050405020304" pitchFamily="18" charset="0"/>
                <a:cs typeface="Times New Roman" panose="02020603050405020304" pitchFamily="18" charset="0"/>
              </a:rPr>
              <a:t>harm </a:t>
            </a:r>
            <a:r>
              <a:rPr lang="pt-BR" cap="none" dirty="0" err="1" smtClean="0">
                <a:latin typeface="Times New Roman" panose="02020603050405020304" pitchFamily="18" charset="0"/>
                <a:cs typeface="Times New Roman" panose="02020603050405020304" pitchFamily="18" charset="0"/>
              </a:rPr>
              <a:t>el</a:t>
            </a:r>
            <a:r>
              <a:rPr lang="pt-BR" cap="none" dirty="0" smtClean="0">
                <a:latin typeface="Times New Roman" panose="02020603050405020304" pitchFamily="18" charset="0"/>
                <a:cs typeface="Times New Roman" panose="02020603050405020304" pitchFamily="18" charset="0"/>
              </a:rPr>
              <a:t>-Sheik, para o programa de trabalho em mitigação não impõe novas metas. “na prática, não servirá para nada”, diz nota do observatório do clima.</a:t>
            </a:r>
          </a:p>
          <a:p>
            <a:pPr fontAlgn="base">
              <a:buFontTx/>
              <a:buChar char="-"/>
            </a:pPr>
            <a:endParaRPr lang="pt-BR" b="1" dirty="0" smtClean="0">
              <a:latin typeface="Times New Roman" panose="02020603050405020304" pitchFamily="18" charset="0"/>
              <a:cs typeface="Times New Roman" panose="02020603050405020304" pitchFamily="18" charset="0"/>
            </a:endParaRPr>
          </a:p>
          <a:p>
            <a:r>
              <a:rPr lang="pt-BR" b="1" dirty="0">
                <a:latin typeface="Times New Roman" panose="02020603050405020304" pitchFamily="18" charset="0"/>
                <a:cs typeface="Times New Roman" panose="02020603050405020304" pitchFamily="18" charset="0"/>
              </a:rPr>
              <a:t>Financiamento </a:t>
            </a:r>
            <a:endParaRPr lang="pt-BR" dirty="0">
              <a:latin typeface="Times New Roman" panose="02020603050405020304" pitchFamily="18" charset="0"/>
              <a:cs typeface="Times New Roman" panose="02020603050405020304" pitchFamily="18" charset="0"/>
            </a:endParaRPr>
          </a:p>
          <a:p>
            <a:pPr fontAlgn="base">
              <a:buFontTx/>
              <a:buChar char="-"/>
            </a:pPr>
            <a:r>
              <a:rPr lang="pt-BR" cap="none" dirty="0" smtClean="0">
                <a:latin typeface="Times New Roman" panose="02020603050405020304" pitchFamily="18" charset="0"/>
                <a:cs typeface="Times New Roman" panose="02020603050405020304" pitchFamily="18" charset="0"/>
              </a:rPr>
              <a:t>no tema do financiamento, a promessa de </a:t>
            </a:r>
            <a:r>
              <a:rPr lang="pt-BR" cap="none" dirty="0" err="1" smtClean="0">
                <a:latin typeface="Times New Roman" panose="02020603050405020304" pitchFamily="18" charset="0"/>
                <a:cs typeface="Times New Roman" panose="02020603050405020304" pitchFamily="18" charset="0"/>
              </a:rPr>
              <a:t>us</a:t>
            </a:r>
            <a:r>
              <a:rPr lang="pt-BR" cap="none" dirty="0" smtClean="0">
                <a:latin typeface="Times New Roman" panose="02020603050405020304" pitchFamily="18" charset="0"/>
                <a:cs typeface="Times New Roman" panose="02020603050405020304" pitchFamily="18" charset="0"/>
              </a:rPr>
              <a:t>$ 100 bilhões ao ano aos países pobres, acordada na COP de 2009, segue sem definição. apesar de a ONU concordar que o valor atualizado necessário seria da ordem de 200 bilhões ao ano, nem a meta inicial chegou a ser cumprida e vários países tentam apresentar outros mecanismos financeiros, como o de seguro contra mudanças climáticas.</a:t>
            </a:r>
            <a:endParaRPr lang="pt-BR" sz="1400" cap="none" dirty="0" smtClean="0">
              <a:latin typeface="Times New Roman" panose="02020603050405020304" pitchFamily="18" charset="0"/>
              <a:cs typeface="Times New Roman" panose="02020603050405020304" pitchFamily="18" charset="0"/>
            </a:endParaRPr>
          </a:p>
          <a:p>
            <a:pPr fontAlgn="base">
              <a:buFontTx/>
              <a:buChar char="-"/>
            </a:pPr>
            <a:endParaRPr lang="pt-BR" sz="1400" cap="none" dirty="0" smtClean="0">
              <a:latin typeface="Times New Roman" panose="02020603050405020304" pitchFamily="18" charset="0"/>
              <a:cs typeface="Times New Roman" panose="02020603050405020304" pitchFamily="18" charset="0"/>
            </a:endParaRPr>
          </a:p>
          <a:p>
            <a:pPr marL="0" indent="0" fontAlgn="t">
              <a:buNone/>
            </a:pPr>
            <a:endParaRPr lang="pt-BR" sz="2400" cap="none" dirty="0" smtClean="0">
              <a:latin typeface="Times New Roman" panose="02020603050405020304" pitchFamily="18" charset="0"/>
              <a:cs typeface="Times New Roman" panose="02020603050405020304" pitchFamily="18" charset="0"/>
            </a:endParaRPr>
          </a:p>
          <a:p>
            <a:pPr fontAlgn="t"/>
            <a:endParaRPr lang="pt-BR"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600" b="1" cap="none" dirty="0" smtClean="0">
                <a:latin typeface="Times New Roman" panose="02020603050405020304" pitchFamily="18" charset="0"/>
                <a:cs typeface="Times New Roman" panose="02020603050405020304" pitchFamily="18" charset="0"/>
              </a:rPr>
              <a:t>COP 27 (Egito) = Resultados... </a:t>
            </a:r>
          </a:p>
          <a:p>
            <a:pPr fontAlgn="t"/>
            <a:endParaRPr lang="pt-BR" sz="2400" cap="none" dirty="0">
              <a:latin typeface="Times New Roman" panose="02020603050405020304" pitchFamily="18" charset="0"/>
              <a:cs typeface="Times New Roman" panose="02020603050405020304" pitchFamily="18" charset="0"/>
            </a:endParaRPr>
          </a:p>
          <a:p>
            <a:r>
              <a:rPr lang="pt-BR" b="1" dirty="0">
                <a:latin typeface="Times New Roman" panose="02020603050405020304" pitchFamily="18" charset="0"/>
                <a:cs typeface="Times New Roman" panose="02020603050405020304" pitchFamily="18" charset="0"/>
              </a:rPr>
              <a:t>o 1,5ºC</a:t>
            </a:r>
            <a:endParaRPr lang="pt-BR" dirty="0">
              <a:latin typeface="Times New Roman" panose="02020603050405020304" pitchFamily="18" charset="0"/>
              <a:cs typeface="Times New Roman" panose="02020603050405020304" pitchFamily="18" charset="0"/>
            </a:endParaRPr>
          </a:p>
          <a:p>
            <a:pPr marL="0" indent="0">
              <a:buNone/>
            </a:pPr>
            <a:r>
              <a:rPr lang="pt-BR" dirty="0" smtClean="0">
                <a:latin typeface="Times New Roman" panose="02020603050405020304" pitchFamily="18" charset="0"/>
                <a:cs typeface="Times New Roman" panose="02020603050405020304" pitchFamily="18" charset="0"/>
              </a:rPr>
              <a:t>- </a:t>
            </a:r>
            <a:r>
              <a:rPr lang="pt-BR" cap="none" dirty="0" smtClean="0">
                <a:latin typeface="Times New Roman" panose="02020603050405020304" pitchFamily="18" charset="0"/>
                <a:cs typeface="Times New Roman" panose="02020603050405020304" pitchFamily="18" charset="0"/>
              </a:rPr>
              <a:t>até a menção à meta de limitar o aquecimento global preferencialmente a 1,5ºc – definida no acordo de Paris e corroborada pelos relatórios do corpo científico da ONU, o IPCC –  esteve sob risco. Segundo os EUA, alguns países pediam a retirada da cifra no texto final, por não ser ela, no entendimento deles, mais possível de ser atingida. Durante as negociações, a União Europeia ameaçou se retirar da conferência, caso o ponto não fosse mantido. o 1,5ºc ficou, mas não como muitos países queriam, pois a menção é fraca e não trás nenhuma adição ao que já havia sido acordado anteriormente.</a:t>
            </a:r>
          </a:p>
          <a:p>
            <a:pPr marL="0" indent="0" fontAlgn="base">
              <a:buNone/>
            </a:pPr>
            <a:r>
              <a:rPr lang="pt-BR" sz="1400" cap="none" dirty="0" smtClean="0">
                <a:latin typeface="Times New Roman" panose="02020603050405020304" pitchFamily="18" charset="0"/>
                <a:cs typeface="Times New Roman" panose="02020603050405020304" pitchFamily="18" charset="0"/>
              </a:rPr>
              <a:t>(Fonte: www.oeco.org.br)</a:t>
            </a:r>
          </a:p>
          <a:p>
            <a:pPr fontAlgn="t"/>
            <a:endParaRPr lang="pt-BR" sz="2400" cap="none" dirty="0" smtClean="0">
              <a:latin typeface="Times New Roman" panose="02020603050405020304" pitchFamily="18" charset="0"/>
              <a:cs typeface="Times New Roman" panose="02020603050405020304" pitchFamily="18" charset="0"/>
            </a:endParaRPr>
          </a:p>
          <a:p>
            <a:pPr fontAlgn="t"/>
            <a:r>
              <a:rPr lang="pt-BR" sz="1800" dirty="0">
                <a:latin typeface="Times New Roman" panose="02020603050405020304" pitchFamily="18" charset="0"/>
                <a:cs typeface="Times New Roman" panose="02020603050405020304" pitchFamily="18" charset="0"/>
              </a:rPr>
              <a:t>https://umsoplaneta.globo.com/clima/noticia/2023/10/17/a-poucas-semanas-da-cop28-ue-chega-a-entendimento-interno-sobre-eliminacao-progressiva-de-combustiveis-fosseis.ghtml</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sz="2600" b="1" cap="none" dirty="0" smtClean="0">
                <a:latin typeface="Times New Roman" panose="02020603050405020304" pitchFamily="18" charset="0"/>
                <a:cs typeface="Times New Roman" panose="02020603050405020304" pitchFamily="18" charset="0"/>
              </a:rPr>
              <a:t>E nos EUA...</a:t>
            </a:r>
          </a:p>
          <a:p>
            <a:pPr fontAlgn="t"/>
            <a:r>
              <a:rPr lang="pt-BR" sz="2600" cap="none" dirty="0" smtClean="0">
                <a:latin typeface="Times New Roman" panose="02020603050405020304" pitchFamily="18" charset="0"/>
                <a:cs typeface="Times New Roman" panose="02020603050405020304" pitchFamily="18" charset="0"/>
              </a:rPr>
              <a:t>https</a:t>
            </a:r>
            <a:r>
              <a:rPr lang="pt-BR" sz="2600" cap="none" dirty="0">
                <a:latin typeface="Times New Roman" panose="02020603050405020304" pitchFamily="18" charset="0"/>
                <a:cs typeface="Times New Roman" panose="02020603050405020304" pitchFamily="18" charset="0"/>
              </a:rPr>
              <a:t>://www.cnnbrasil.com.br/internacional/senado-americano-aprova-o-maior-pacote-climatico-da-historia/?utm_source=social&amp;utm_medium=instagram-stories&amp;utm_campaign=internacional-cnn-brasil&amp;utm_content=link</a:t>
            </a:r>
            <a:endParaRPr lang="pt-BR" sz="2400" cap="none" dirty="0" smtClean="0">
              <a:latin typeface="Times New Roman" panose="02020603050405020304" pitchFamily="18" charset="0"/>
              <a:cs typeface="Times New Roman" panose="02020603050405020304" pitchFamily="18" charset="0"/>
            </a:endParaRPr>
          </a:p>
          <a:p>
            <a:pPr fontAlgn="t"/>
            <a:endParaRPr lang="pt-BR" sz="2600" b="1" cap="none" dirty="0" smtClean="0">
              <a:latin typeface="Times New Roman" panose="02020603050405020304" pitchFamily="18" charset="0"/>
              <a:cs typeface="Times New Roman" panose="02020603050405020304" pitchFamily="18" charset="0"/>
            </a:endParaRPr>
          </a:p>
          <a:p>
            <a:pPr fontAlgn="t"/>
            <a:r>
              <a:rPr lang="pt-BR" sz="2600" b="1" cap="none" dirty="0" smtClean="0">
                <a:latin typeface="Times New Roman" panose="02020603050405020304" pitchFamily="18" charset="0"/>
                <a:cs typeface="Times New Roman" panose="02020603050405020304" pitchFamily="18" charset="0"/>
              </a:rPr>
              <a:t>E </a:t>
            </a:r>
            <a:r>
              <a:rPr lang="pt-BR" sz="2600" b="1" cap="none" dirty="0">
                <a:latin typeface="Times New Roman" panose="02020603050405020304" pitchFamily="18" charset="0"/>
                <a:cs typeface="Times New Roman" panose="02020603050405020304" pitchFamily="18" charset="0"/>
              </a:rPr>
              <a:t>no Brasil...</a:t>
            </a:r>
          </a:p>
          <a:p>
            <a:pPr fontAlgn="t"/>
            <a:r>
              <a:rPr lang="en-US" altLang="pt-BR" dirty="0"/>
              <a:t>LEI N</a:t>
            </a:r>
            <a:r>
              <a:rPr lang="en-US" altLang="en-US" dirty="0"/>
              <a:t>º</a:t>
            </a:r>
            <a:r>
              <a:rPr lang="en-US" altLang="pt-BR" dirty="0"/>
              <a:t> 14.904, DE 27 DE JUNHO DE 2024</a:t>
            </a:r>
          </a:p>
          <a:p>
            <a:pPr fontAlgn="t"/>
            <a:r>
              <a:rPr lang="en-US" altLang="pt-BR" dirty="0"/>
              <a:t>Estabelece diretrizes para a elabora</a:t>
            </a:r>
            <a:r>
              <a:rPr lang="" altLang="en-US" dirty="0"/>
              <a:t>ç</a:t>
            </a:r>
            <a:r>
              <a:rPr lang="en-US" altLang="en-US" dirty="0"/>
              <a:t>ã</a:t>
            </a:r>
            <a:r>
              <a:rPr lang="en-US" altLang="pt-BR" dirty="0"/>
              <a:t>o de planos de adapta</a:t>
            </a:r>
            <a:r>
              <a:rPr lang="" altLang="en-US" dirty="0"/>
              <a:t>ç</a:t>
            </a:r>
            <a:r>
              <a:rPr lang="en-US" altLang="en-US" dirty="0" err="1"/>
              <a:t>ã</a:t>
            </a:r>
            <a:r>
              <a:rPr lang="en-US" altLang="pt-BR" dirty="0" err="1"/>
              <a:t>o</a:t>
            </a:r>
            <a:r>
              <a:rPr lang="en-US" altLang="pt-BR" dirty="0"/>
              <a:t> </a:t>
            </a:r>
            <a:r>
              <a:rPr lang="en-US" altLang="pt-BR" dirty="0" smtClean="0"/>
              <a:t>a </a:t>
            </a:r>
            <a:r>
              <a:rPr lang="en-US" altLang="pt-BR" dirty="0"/>
              <a:t>mudan</a:t>
            </a:r>
            <a:r>
              <a:rPr lang="" altLang="en-US" dirty="0"/>
              <a:t>ç</a:t>
            </a:r>
            <a:r>
              <a:rPr lang="en-US" altLang="pt-BR" dirty="0"/>
              <a:t>a do clima; altera a Lei n</a:t>
            </a:r>
            <a:r>
              <a:rPr lang="en-US" altLang="en-US" dirty="0"/>
              <a:t>º</a:t>
            </a:r>
            <a:r>
              <a:rPr lang="en-US" altLang="pt-BR" dirty="0"/>
              <a:t> 12.114, de 9 de dezembro de 2009</a:t>
            </a:r>
            <a:r>
              <a:rPr lang="pt-BR" altLang="en-US" dirty="0"/>
              <a:t> (</a:t>
            </a:r>
            <a:r>
              <a:rPr lang="en-US" altLang="pt-BR" dirty="0"/>
              <a:t>Fundo Nacional sobre Mudan</a:t>
            </a:r>
            <a:r>
              <a:rPr lang="" altLang="en-US" dirty="0"/>
              <a:t>ç</a:t>
            </a:r>
            <a:r>
              <a:rPr lang="en-US" altLang="pt-BR" dirty="0"/>
              <a:t>a do Clima</a:t>
            </a:r>
            <a:r>
              <a:rPr lang="pt-BR" altLang="en-US" dirty="0"/>
              <a:t>)</a:t>
            </a:r>
            <a:r>
              <a:rPr lang="en-US" altLang="pt-BR" dirty="0"/>
              <a: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pPr fontAlgn="t"/>
            <a:r>
              <a:rPr lang="en-US" altLang="pt-BR" dirty="0" smtClean="0"/>
              <a:t>COP 30 – </a:t>
            </a:r>
            <a:r>
              <a:rPr lang="en-US" altLang="pt-BR" dirty="0" err="1" smtClean="0"/>
              <a:t>Brasil</a:t>
            </a:r>
            <a:r>
              <a:rPr lang="en-US" altLang="pt-BR" dirty="0" smtClean="0"/>
              <a:t> (2025)</a:t>
            </a:r>
          </a:p>
          <a:p>
            <a:pPr fontAlgn="t"/>
            <a:endParaRPr lang="en-US" altLang="pt-BR" dirty="0"/>
          </a:p>
          <a:p>
            <a:pPr fontAlgn="base"/>
            <a:r>
              <a:rPr lang="pt-BR" b="1" dirty="0"/>
              <a:t>1. Mapa do caminho de fora (por enquanto): </a:t>
            </a:r>
            <a:r>
              <a:rPr lang="pt-BR" dirty="0"/>
              <a:t>O texto final não trouxe os roteiros defendidos pelo Brasil e pela Colômbia para organizar a transição para longe dos fósseis e zerar o desmatamento. Isso aconteceu após resistência de países produtores de petróleo. Mesmo assim, a presidência da COP avisou que vai seguir trabalhando nos documentos em 2025.</a:t>
            </a:r>
          </a:p>
          <a:p>
            <a:pPr fontAlgn="base"/>
            <a:r>
              <a:rPr lang="pt-BR" b="1" dirty="0"/>
              <a:t>2. Meta Global de Adaptação (GGA) enfraquecida: </a:t>
            </a:r>
            <a:r>
              <a:rPr lang="pt-BR" dirty="0"/>
              <a:t>A meta global de adaptação foi aprovada, mas com uma lista menor de indicadores: caiu de cerca de 100 para pouco mais de 60. Esses indicadores são formas simples de acompanhar se os países estão melhor preparados para a crise do clima (com alertas de emergência, obras contra enchentes, sistemas de prevenção). Sem dinheiro claro e com negociações pouco abertas, países do Sul Global dizem que a meta já nasceu fragilizada.</a:t>
            </a:r>
          </a:p>
          <a:p>
            <a:pPr fontAlgn="t"/>
            <a:endParaRPr lang="en-US" altLang="pt-BR" dirty="0"/>
          </a:p>
        </p:txBody>
      </p:sp>
    </p:spTree>
    <p:extLst>
      <p:ext uri="{BB962C8B-B14F-4D97-AF65-F5344CB8AC3E}">
        <p14:creationId xmlns:p14="http://schemas.microsoft.com/office/powerpoint/2010/main" val="29395205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base"/>
            <a:r>
              <a:rPr lang="pt-BR" b="1" dirty="0"/>
              <a:t>3. Financiamento climático ainda muito abaixo do necessário: </a:t>
            </a:r>
            <a:r>
              <a:rPr lang="pt-BR" dirty="0"/>
              <a:t>Os países também só concordaram em “fazer esforços” para triplicar o financiamento de adaptação até 2035, mas sem dizer quem paga, quanto e de onde vem o dinheiro. Para América Latina e África, isso complica o planejamento de obras contra enchentes, secas e outros impactos já em andamento.</a:t>
            </a:r>
          </a:p>
          <a:p>
            <a:pPr fontAlgn="base"/>
            <a:endParaRPr lang="pt-BR" b="1" dirty="0" smtClean="0"/>
          </a:p>
          <a:p>
            <a:pPr fontAlgn="base"/>
            <a:r>
              <a:rPr lang="pt-BR" b="1" dirty="0" smtClean="0"/>
              <a:t>4</a:t>
            </a:r>
            <a:r>
              <a:rPr lang="pt-BR" b="1" dirty="0"/>
              <a:t>. Mitigação sem avanços estruturais:</a:t>
            </a:r>
            <a:r>
              <a:rPr lang="pt-BR" dirty="0"/>
              <a:t> O texto final não cita combustíveis fósseis e repete praticamente o mesmo nível de ambição da COP anterior, em Baku. Delegações que pressionavam por uma transição energética mais clara disseram que o debate ficou travado pelas divergências entre os países, impedindo passos mais concretos para reduzir emissões.</a:t>
            </a:r>
          </a:p>
          <a:p>
            <a:pPr fontAlgn="t"/>
            <a:endParaRPr lang="en-US" altLang="pt-BR" dirty="0"/>
          </a:p>
        </p:txBody>
      </p:sp>
    </p:spTree>
    <p:extLst>
      <p:ext uri="{BB962C8B-B14F-4D97-AF65-F5344CB8AC3E}">
        <p14:creationId xmlns:p14="http://schemas.microsoft.com/office/powerpoint/2010/main" val="21194610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lnSpcReduction="10000"/>
          </a:bodyPr>
          <a:lstStyle/>
          <a:p>
            <a:pPr fontAlgn="base"/>
            <a:r>
              <a:rPr lang="pt-BR" b="1" dirty="0"/>
              <a:t>5. Direitos indígenas reconhecidos como estratégia climática: </a:t>
            </a:r>
            <a:r>
              <a:rPr lang="pt-BR" dirty="0"/>
              <a:t>O pacote final da COP traz, pela primeira vez, referências claras ao papel dos povos indígenas na proteção das florestas e na adaptação ao clima. Diferentes decisões citam esses direitos de forma explícita, um avanço inédito nas negociações da ONU.</a:t>
            </a:r>
          </a:p>
          <a:p>
            <a:pPr fontAlgn="base"/>
            <a:r>
              <a:rPr lang="pt-BR" b="1" dirty="0"/>
              <a:t>6. Brasil promete levar adiante mapas do caminho: </a:t>
            </a:r>
            <a:r>
              <a:rPr lang="pt-BR" dirty="0"/>
              <a:t>Mesmo fora do acordo final, a presidência disse que vai preparar, ao longo de 2025, dois documentos sobre combustíveis fósseis e desmatamento para apresentar antes da COP31. É uma tentativa de manter o tema vivo depois da resistência de países contrários.</a:t>
            </a:r>
          </a:p>
          <a:p>
            <a:pPr fontAlgn="base"/>
            <a:r>
              <a:rPr lang="pt-BR" b="1" dirty="0"/>
              <a:t>7. Comércio internacional entra oficialmente na agenda: </a:t>
            </a:r>
            <a:r>
              <a:rPr lang="pt-BR" dirty="0"/>
              <a:t>A COP30 abriu pela primeira vez uma discussão sobre como as regras de comércio entre países podem influenciar o clima. Muitos governos queriam esse debate há anos. O acordo também inicia uma análise sobre como o comércio mundial pode ajudar, e não atrapalhar, a adoção de tecnologias mais limpas.</a:t>
            </a:r>
          </a:p>
          <a:p>
            <a:pPr fontAlgn="t"/>
            <a:endParaRPr lang="en-US" altLang="pt-BR" dirty="0"/>
          </a:p>
        </p:txBody>
      </p:sp>
    </p:spTree>
    <p:extLst>
      <p:ext uri="{BB962C8B-B14F-4D97-AF65-F5344CB8AC3E}">
        <p14:creationId xmlns:p14="http://schemas.microsoft.com/office/powerpoint/2010/main" val="13358151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t"/>
            <a:r>
              <a:rPr lang="pt-BR" b="1" dirty="0"/>
              <a:t>8. Aprovação do Plano de Ação de Gênero de Belém:</a:t>
            </a:r>
            <a:r>
              <a:rPr lang="pt-BR" dirty="0"/>
              <a:t> Um plano que orienta a participação de mulheres e meninas nas decisões sobre clima foi aprovado em Belém. O documento reforça passos para ampliar essa presença em todos os níveis das negociações. A votação avançou mesmo depois de objeções apresentadas pelo Vaticano na plenária final</a:t>
            </a:r>
            <a:r>
              <a:rPr lang="pt-BR" dirty="0" smtClean="0"/>
              <a:t>.</a:t>
            </a:r>
          </a:p>
          <a:p>
            <a:pPr fontAlgn="t"/>
            <a:endParaRPr lang="pt-BR" altLang="pt-BR" dirty="0"/>
          </a:p>
          <a:p>
            <a:pPr fontAlgn="t"/>
            <a:r>
              <a:rPr lang="pt-BR" b="1" dirty="0"/>
              <a:t>9. Mecanismo de Belém para uma transição justa: </a:t>
            </a:r>
            <a:r>
              <a:rPr lang="pt-BR" dirty="0"/>
              <a:t>A COP30 aprovou a criação de um mecanismo de transição justa, conhecido como BAM, sigla de </a:t>
            </a:r>
            <a:r>
              <a:rPr lang="pt-BR" i="1" dirty="0"/>
              <a:t>Belém </a:t>
            </a:r>
            <a:r>
              <a:rPr lang="pt-BR" i="1" dirty="0" err="1"/>
              <a:t>Action</a:t>
            </a:r>
            <a:r>
              <a:rPr lang="pt-BR" i="1" dirty="0"/>
              <a:t> </a:t>
            </a:r>
            <a:r>
              <a:rPr lang="pt-BR" i="1" dirty="0" err="1"/>
              <a:t>Mechanism</a:t>
            </a:r>
            <a:r>
              <a:rPr lang="pt-BR" dirty="0"/>
              <a:t>. É uma das principais entregas da conferência. Na prática, o BAM organiza, pela primeira </a:t>
            </a:r>
            <a:r>
              <a:rPr lang="pt-BR" dirty="0" err="1"/>
              <a:t>primeira</a:t>
            </a:r>
            <a:r>
              <a:rPr lang="pt-BR" dirty="0"/>
              <a:t> vez, um caminho permanente para que países em desenvolvimento possam planejar a mudança para economias de baixo carbono sem deixar trabalhadores e comunidades vulneráveis para trás.</a:t>
            </a:r>
            <a:endParaRPr lang="en-US" altLang="pt-BR" dirty="0"/>
          </a:p>
        </p:txBody>
      </p:sp>
    </p:spTree>
    <p:extLst>
      <p:ext uri="{BB962C8B-B14F-4D97-AF65-F5344CB8AC3E}">
        <p14:creationId xmlns:p14="http://schemas.microsoft.com/office/powerpoint/2010/main" val="16041364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base"/>
            <a:r>
              <a:rPr lang="pt-BR" b="1" dirty="0"/>
              <a:t>10. Meta Global de Adaptação finalmente adotada:</a:t>
            </a:r>
            <a:r>
              <a:rPr lang="pt-BR" dirty="0"/>
              <a:t> Apesar de ter fechado um conjunto menor de indicadores, a COP30 conseguiu um avanço importante: pela primeira vez, os países terão uma base comum para acompanhar como estão se preparando para eventos extremos. São indicadores que ajudam a organizar esse trabalho e criar comparações mais claras. A conferência também abriu um processo de dois anos para detalhar como essas medidas vão funcionar na prática. É um começo que dá mais direção para a agenda de adaptação</a:t>
            </a:r>
            <a:r>
              <a:rPr lang="pt-BR" dirty="0" smtClean="0"/>
              <a:t>.</a:t>
            </a:r>
          </a:p>
          <a:p>
            <a:pPr fontAlgn="base"/>
            <a:endParaRPr lang="pt-BR" dirty="0"/>
          </a:p>
          <a:p>
            <a:pPr fontAlgn="base"/>
            <a:r>
              <a:rPr lang="pt-BR" b="1" dirty="0"/>
              <a:t>11. Compromisso de triplicar o financiamento para adaptação até 2035: </a:t>
            </a:r>
            <a:r>
              <a:rPr lang="pt-BR" dirty="0"/>
              <a:t>Apesar de não trazer valores claros, o compromisso de triplicar o financiamento é visto por especialistas como um avanço, porque reconhece a urgência de investir mais em adaptação. Os detalhes ficam para 2026, antes da COP31.</a:t>
            </a:r>
          </a:p>
        </p:txBody>
      </p:sp>
    </p:spTree>
    <p:extLst>
      <p:ext uri="{BB962C8B-B14F-4D97-AF65-F5344CB8AC3E}">
        <p14:creationId xmlns:p14="http://schemas.microsoft.com/office/powerpoint/2010/main" val="28740170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0"/>
            <a:ext cx="9144000" cy="6858000"/>
          </a:xfrm>
        </p:spPr>
        <p:txBody>
          <a:bodyPr>
            <a:normAutofit/>
          </a:bodyPr>
          <a:lstStyle/>
          <a:p>
            <a:pPr fontAlgn="base"/>
            <a:r>
              <a:rPr lang="pt-BR" b="1" dirty="0"/>
              <a:t>12. Fundo florestal ganha novo fôlego na COP30: </a:t>
            </a:r>
            <a:r>
              <a:rPr lang="pt-BR" dirty="0"/>
              <a:t>Durante a COP30, o TFFF registrou uma rodada de anúncios que elevou o peso político do fundo. A Alemanha confirmou 1 bilhão de euros e se juntou a Noruega, França, Brasil e Indonésia, levando o total comprometido para mais de 6 bilhões de dólares. Com a visibilidade da cúpula, o mecanismo saiu de Belém mais consolidado e com expectativa de ampliar a lista de doadores</a:t>
            </a:r>
            <a:r>
              <a:rPr lang="pt-BR" dirty="0" smtClean="0"/>
              <a:t>.</a:t>
            </a:r>
          </a:p>
          <a:p>
            <a:pPr fontAlgn="base"/>
            <a:endParaRPr lang="pt-BR" dirty="0"/>
          </a:p>
          <a:p>
            <a:pPr fontAlgn="base"/>
            <a:r>
              <a:rPr lang="pt-BR" sz="1100" dirty="0"/>
              <a:t>Fonte: </a:t>
            </a:r>
            <a:r>
              <a:rPr lang="pt-BR" sz="1100" dirty="0" smtClean="0"/>
              <a:t>g1.globo.com</a:t>
            </a:r>
            <a:endParaRPr lang="pt-BR" sz="1100" dirty="0"/>
          </a:p>
        </p:txBody>
      </p:sp>
    </p:spTree>
    <p:extLst>
      <p:ext uri="{BB962C8B-B14F-4D97-AF65-F5344CB8AC3E}">
        <p14:creationId xmlns:p14="http://schemas.microsoft.com/office/powerpoint/2010/main" val="2982598909"/>
      </p:ext>
    </p:extLst>
  </p:cSld>
  <p:clrMapOvr>
    <a:masterClrMapping/>
  </p:clrMapOvr>
  <p:timing>
    <p:tnLst>
      <p:par>
        <p:cTn id="1" dur="indefinite" restart="never" nodeType="tmRoot"/>
      </p:par>
    </p:tnLst>
  </p:timing>
</p:sld>
</file>

<file path=ppt/theme/theme1.xml><?xml version="1.0" encoding="utf-8"?>
<a:theme xmlns:a="http://schemas.openxmlformats.org/drawingml/2006/main" name="Gotícula">
  <a:themeElements>
    <a:clrScheme name="Gotícul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ícula">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ícul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TM04033925[[fn=Gotícula]]</Template>
  <TotalTime>1123</TotalTime>
  <Words>3052</Words>
  <Application>Microsoft Office PowerPoint</Application>
  <PresentationFormat>Apresentação na tela (4:3)</PresentationFormat>
  <Paragraphs>236</Paragraphs>
  <Slides>38</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38</vt:i4>
      </vt:variant>
    </vt:vector>
  </HeadingPairs>
  <TitlesOfParts>
    <vt:vector size="42" baseType="lpstr">
      <vt:lpstr>Arial</vt:lpstr>
      <vt:lpstr>Times New Roman</vt:lpstr>
      <vt:lpstr>Tw Cen MT</vt:lpstr>
      <vt:lpstr>Gotícula</vt:lpstr>
      <vt:lpstr>LITIGÂNCIA CLIMÁTICA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MUDANÇAS CLIMÁTICAS</dc:title>
  <dc:creator>Usuario</dc:creator>
  <cp:lastModifiedBy>Criz</cp:lastModifiedBy>
  <cp:revision>159</cp:revision>
  <dcterms:created xsi:type="dcterms:W3CDTF">2016-09-01T14:09:00Z</dcterms:created>
  <dcterms:modified xsi:type="dcterms:W3CDTF">2026-04-15T11:13:16Z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4BC6CA6C7725496A8FA1570975B3EFE9_12</vt:lpwstr>
  </property>
  <property fmtid="{D5CDD505-2E9C-101B-9397-08002B2CF9AE}" pid="3" name="KSOProductBuildVer">
    <vt:lpwstr>1046-12.2.0.20795</vt:lpwstr>
  </property>
</Properties>
</file>